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Urbanist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F3FDDA-37BE-4496-AAE1-BF1B384DF4A6}">
  <a:tblStyle styleId="{B6F3FDDA-37BE-4496-AAE1-BF1B384DF4A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1cb3bd32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b1cb3bd32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1cb3bd32b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b1cb3bd32b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1cb3bd32b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b1cb3bd32b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1cb3bd32b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3b1cb3bd32b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1cb3bd32b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3b1cb3bd32b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1cb3bd32b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3b1cb3bd32b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1cb3bd32b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g3b1cb3bd32b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209823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KTU EKONOMIKOS IR VERSLO FAKULTETAS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1657498"/>
            <a:ext cx="11581447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Medžiagų</a:t>
            </a:r>
            <a:r>
              <a:rPr lang="en-US" sz="48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ir</a:t>
            </a:r>
            <a:r>
              <a:rPr lang="en-US" sz="48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produkt</a:t>
            </a:r>
            <a:r>
              <a:rPr lang="lt-LT" sz="48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ų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pa</a:t>
            </a:r>
            <a:r>
              <a:rPr lang="lt-LT" sz="48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si</a:t>
            </a:r>
            <a:r>
              <a:rPr lang="en-US" sz="48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rinkimo</a:t>
            </a:r>
            <a:r>
              <a:rPr lang="en-US" sz="48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1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sistema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5619750" y="3474690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3798540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Inžinerinio sprendimo ekonominis pagrindimas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81025" y="4783335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Parengė: Kristupas Velžys, Jovita Valukonytė, Nojus Sajauskas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81025" y="5231010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Kaunas,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43175"/>
            <a:ext cx="537210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543175"/>
            <a:ext cx="537210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71550" y="2933700"/>
            <a:ext cx="48206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Esminė problema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71550" y="3400425"/>
            <a:ext cx="45910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Prekybininkai neturi laiko ir techninių įgūdžių sistemingai analizuoti vartotojų atsiliepimus internete. Sprendimai priimami intuityviai, o tai sukelia didelę finansinę riziką.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29400" y="2933700"/>
            <a:ext cx="482060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Mūsų sprendimas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29400" y="3400425"/>
            <a:ext cx="45910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Automatizuotas įrankis ("Scraperis"), atliekantis išsamią rinkos analizę "Youtube", "Facebook", "X" ir "Reddit" platformose per 1-2 darbo dienas.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PROBLEMA IR SPRENDIMAS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963325" y="776462"/>
            <a:ext cx="549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Lankstus "Scraperis"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963325" y="1243187"/>
            <a:ext cx="52293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Sistemos pagrindą sudaro API ir HTML parsavimo metodai. Duomenys automatiškai apdorojami, filtruojami ir grupuojami, identifikuojant tendencijas.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963325" y="2300462"/>
            <a:ext cx="5229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Rezultatas: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Aiški, veiksmams orientuota ataskaita su strateginėmis rekomendacijomis.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TECHNINĖ ARCHITEKTŪRA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275" y="3356850"/>
            <a:ext cx="9474201" cy="31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0" name="Google Shape;120;p16"/>
          <p:cNvGraphicFramePr/>
          <p:nvPr/>
        </p:nvGraphicFramePr>
        <p:xfrm>
          <a:off x="581025" y="2162175"/>
          <a:ext cx="11029975" cy="3371900"/>
        </p:xfrm>
        <a:graphic>
          <a:graphicData uri="http://schemas.openxmlformats.org/drawingml/2006/table">
            <a:tbl>
              <a:tblPr firstRow="1" bandRow="1">
                <a:noFill/>
                <a:tableStyleId>{B6F3FDDA-37BE-4496-AAE1-BF1B384DF4A6}</a:tableStyleId>
              </a:tblPr>
              <a:tblGrid>
                <a:gridCol w="340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1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1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Turtas / Įranga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Modelis / Tiekėjas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Kiekis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Suma (Eur)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Staliniai kompiuteriai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Apple iMac 24" (M3)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3,200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Ergonominės kėdės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HÅG Capisco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2,400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Debesų infrastruktūra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Amazon AWS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1,800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Dirbtinio intelekto API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OpenAI ChatGPT (GPT-4)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1,000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Duomenų rinkimo API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Bright Data / Scrapingbee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1,200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IŠ VISO INVESTICIJŲ (2026 m.)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11,880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1" name="Google Shape;121;p16"/>
          <p:cNvSpPr/>
          <p:nvPr/>
        </p:nvSpPr>
        <p:spPr>
          <a:xfrm>
            <a:off x="581025" y="2633662"/>
            <a:ext cx="3400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3981450" y="2633662"/>
            <a:ext cx="38146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7796063" y="2633662"/>
            <a:ext cx="15534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9349531" y="2633662"/>
            <a:ext cx="226144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581025" y="3109912"/>
            <a:ext cx="3400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3981450" y="3109912"/>
            <a:ext cx="38146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7796063" y="3109912"/>
            <a:ext cx="15534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9349531" y="3109912"/>
            <a:ext cx="226144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81025" y="3595687"/>
            <a:ext cx="3400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3981450" y="3595687"/>
            <a:ext cx="38146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7796063" y="3595687"/>
            <a:ext cx="15534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9349531" y="3595687"/>
            <a:ext cx="226144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81025" y="4081462"/>
            <a:ext cx="3400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3981450" y="4081462"/>
            <a:ext cx="38146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7796063" y="4081462"/>
            <a:ext cx="15534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9349531" y="4081462"/>
            <a:ext cx="226144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81025" y="4557712"/>
            <a:ext cx="3400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3981450" y="4557712"/>
            <a:ext cx="38146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7796063" y="4557712"/>
            <a:ext cx="15534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9349531" y="4557712"/>
            <a:ext cx="226144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81025" y="5043487"/>
            <a:ext cx="3400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3981450" y="5043487"/>
            <a:ext cx="381461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7796063" y="5043487"/>
            <a:ext cx="155346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9349531" y="5043487"/>
            <a:ext cx="226144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INVESTICIJŲ POREIKIS (2026 M.)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2" name="Google Shape;152;p17"/>
          <p:cNvGraphicFramePr/>
          <p:nvPr/>
        </p:nvGraphicFramePr>
        <p:xfrm>
          <a:off x="581025" y="2400300"/>
          <a:ext cx="11029925" cy="2895600"/>
        </p:xfrm>
        <a:graphic>
          <a:graphicData uri="http://schemas.openxmlformats.org/drawingml/2006/table">
            <a:tbl>
              <a:tblPr firstRow="1" bandRow="1">
                <a:noFill/>
                <a:tableStyleId>{B6F3FDDA-37BE-4496-AAE1-BF1B384DF4A6}</a:tableStyleId>
              </a:tblPr>
              <a:tblGrid>
                <a:gridCol w="277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Kategorija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Aprašymas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2026 m. (Eur)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2027 m. (Eur)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Darbuotojų atlyginimai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Direktorius, Programuotojas, Analitikas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156,000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172,000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Reklama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Google Ads, SEO įrankiai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11,800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15,800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Patalpų nuoma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Biuro nuoma (Aruodas.lt)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28,000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28,500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Kitos išlaidos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Apskaita, Teisinės paslaugos, Bankas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6,600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11,300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VISO IŠLAIDŲ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202,400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227,600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3" name="Google Shape;153;p17"/>
          <p:cNvSpPr/>
          <p:nvPr/>
        </p:nvSpPr>
        <p:spPr>
          <a:xfrm>
            <a:off x="581025" y="2862262"/>
            <a:ext cx="277028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3351311" y="2862262"/>
            <a:ext cx="43237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675066" y="2862262"/>
            <a:ext cx="19678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9642871" y="2862262"/>
            <a:ext cx="19681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81025" y="3348037"/>
            <a:ext cx="277028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3351311" y="3348037"/>
            <a:ext cx="43237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675066" y="3348037"/>
            <a:ext cx="19678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9642871" y="3348037"/>
            <a:ext cx="19681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81025" y="3833812"/>
            <a:ext cx="277028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3351311" y="3833812"/>
            <a:ext cx="43237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7675066" y="3833812"/>
            <a:ext cx="19678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9642871" y="3833812"/>
            <a:ext cx="19681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581025" y="4319587"/>
            <a:ext cx="277028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3351311" y="4319587"/>
            <a:ext cx="43237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7675066" y="4319587"/>
            <a:ext cx="19678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9642871" y="4319587"/>
            <a:ext cx="19681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581025" y="4805362"/>
            <a:ext cx="277028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3351311" y="4805362"/>
            <a:ext cx="43237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7675066" y="4805362"/>
            <a:ext cx="19678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9642871" y="4805362"/>
            <a:ext cx="19681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METINĖS EINAMOSIOS IŠLAIDOS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771525" y="771525"/>
            <a:ext cx="499062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MAKROEKONOMIKA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81025" y="77152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581025" y="1609725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Lietuvos BVP potencialas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581025" y="2076450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Lietuvos rinkos rodikliai prognozuoja stabilumą. Nors numatomas nedidelis kritimas, Lietuva gerokai lenkia Europos BVP vidurkį.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81025" y="313372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BVP augimas tiesiogiai koreliuoja su e-komercijos plėtra ir verslo noru investuoti į giliąją rinkos analizę.</a:t>
            </a:r>
            <a:endParaRPr/>
          </a:p>
        </p:txBody>
      </p:sp>
      <p:pic>
        <p:nvPicPr>
          <p:cNvPr id="185" name="Google Shape;185;p18"/>
          <p:cNvPicPr preferRelativeResize="0"/>
          <p:nvPr/>
        </p:nvPicPr>
        <p:blipFill rotWithShape="1">
          <a:blip r:embed="rId4">
            <a:alphaModFix/>
          </a:blip>
          <a:srcRect l="20823" t="16978" r="20418"/>
          <a:stretch/>
        </p:blipFill>
        <p:spPr>
          <a:xfrm>
            <a:off x="6135950" y="862150"/>
            <a:ext cx="4943475" cy="530917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6135950" y="6265537"/>
            <a:ext cx="484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Baltijos šalių rinkos palyginimas su Europa</a:t>
            </a:r>
            <a:endParaRPr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771525" y="771525"/>
            <a:ext cx="499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MAKROEKONOMIKA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81025" y="771525"/>
            <a:ext cx="573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581025" y="1609725"/>
            <a:ext cx="519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Lietuvos BVP potencialas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581025" y="2076450"/>
            <a:ext cx="49434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Lietuvos rinkos rodikliai prognozuoja stabilumą. Nors numatomas nedidelis kritimas, Lietuva gerokai lenkia Europos BVP vidurkį.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581025" y="3133725"/>
            <a:ext cx="4943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BVP augimas tiesiogiai koreliuoja su e-komercijos plėtra ir verslo noru investuoti į giliąją rinkos analizę.</a:t>
            </a:r>
            <a:endParaRPr/>
          </a:p>
        </p:txBody>
      </p:sp>
      <p:pic>
        <p:nvPicPr>
          <p:cNvPr id="197" name="Google Shape;197;p19"/>
          <p:cNvPicPr preferRelativeResize="0"/>
          <p:nvPr/>
        </p:nvPicPr>
        <p:blipFill rotWithShape="1">
          <a:blip r:embed="rId4">
            <a:alphaModFix/>
          </a:blip>
          <a:srcRect l="21183" t="27039" r="20683"/>
          <a:stretch/>
        </p:blipFill>
        <p:spPr>
          <a:xfrm>
            <a:off x="5437850" y="1281186"/>
            <a:ext cx="6357574" cy="429562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5524425" y="5717237"/>
            <a:ext cx="484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Įvairių valstybių rinkos palyginimas su Europa</a:t>
            </a:r>
            <a:endParaRPr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771525" y="771525"/>
            <a:ext cx="4990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MAKROEKONOMIKA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581025" y="771525"/>
            <a:ext cx="573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581025" y="1609725"/>
            <a:ext cx="519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Lietuvos BVP potencialas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81025" y="2076450"/>
            <a:ext cx="49434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Lietuvos rinkos rodikliai prognozuoja stabilumą. Nors numatomas nedidelis kritimas, Lietuva gerokai lenkia Europos BVP vidurkį.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581025" y="3133725"/>
            <a:ext cx="4943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BVP augimas tiesiogiai koreliuoja su e-komercijos plėtra ir verslo noru investuoti į giliąją rinkos analizę.</a:t>
            </a:r>
            <a:endParaRPr/>
          </a:p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4">
            <a:alphaModFix/>
          </a:blip>
          <a:srcRect l="17856" t="27317" r="25973" b="10724"/>
          <a:stretch/>
        </p:blipFill>
        <p:spPr>
          <a:xfrm>
            <a:off x="6062825" y="613125"/>
            <a:ext cx="5538250" cy="5641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6122050" y="6337687"/>
            <a:ext cx="484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Nedarbo lygis</a:t>
            </a:r>
            <a:endParaRPr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581025" y="2100262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Vartotojų kainų pokyčiai (VKI) 2024-2025 m. laikotarpiu:</a:t>
            </a:r>
            <a:endParaRPr/>
          </a:p>
        </p:txBody>
      </p:sp>
      <p:graphicFrame>
        <p:nvGraphicFramePr>
          <p:cNvPr id="217" name="Google Shape;217;p21"/>
          <p:cNvGraphicFramePr/>
          <p:nvPr/>
        </p:nvGraphicFramePr>
        <p:xfrm>
          <a:off x="581025" y="254793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{B6F3FDDA-37BE-4496-AAE1-BF1B384DF4A6}</a:tableStyleId>
              </a:tblPr>
              <a:tblGrid>
                <a:gridCol w="399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5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Paslaugų grupė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2025 M11 (%)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2025 M06 (%)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2024 M12 (%)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Būstas, vanduo, elektra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1.4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1.6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-3.6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Būsto nuomos mokesčiai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9.5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4.7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-0.4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Būsto priežiūra ir remontas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4.3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4.1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1.1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Vandentiekis ir kt. paslaugos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6.9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5.8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>
                          <a:solidFill>
                            <a:srgbClr val="75757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2.3</a:t>
                      </a:r>
                      <a:endParaRPr>
                        <a:solidFill>
                          <a:srgbClr val="757575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8" name="Google Shape;218;p21"/>
          <p:cNvSpPr txBox="1"/>
          <p:nvPr/>
        </p:nvSpPr>
        <p:spPr>
          <a:xfrm>
            <a:off x="581025" y="5148262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Išvada: Augančios nuomos ir paslaugų kainos skatina verslą veikti operatyviai, siekiant amortizuoti kaštus per didesnį efektyvumą.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581025" y="3019425"/>
            <a:ext cx="399380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4574827" y="3019425"/>
            <a:ext cx="23452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6920061" y="3019425"/>
            <a:ext cx="23452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9265294" y="3019425"/>
            <a:ext cx="23456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581025" y="3505200"/>
            <a:ext cx="399380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4574827" y="3505200"/>
            <a:ext cx="23452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6920061" y="3505200"/>
            <a:ext cx="23452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9265294" y="3505200"/>
            <a:ext cx="23456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81025" y="3990975"/>
            <a:ext cx="399380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4574827" y="3990975"/>
            <a:ext cx="23452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6920061" y="3990975"/>
            <a:ext cx="23452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9265294" y="3990975"/>
            <a:ext cx="23456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581025" y="4476750"/>
            <a:ext cx="399380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4574827" y="4476750"/>
            <a:ext cx="23452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6920061" y="4476750"/>
            <a:ext cx="234523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9265294" y="4476750"/>
            <a:ext cx="23456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INFLIACIJOS ĮTAKA VERSLUI</a:t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529950" y="5434003"/>
            <a:ext cx="11132100" cy="9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just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F8FAFC"/>
                </a:solidFill>
              </a:rPr>
              <a:t>Ši lentelė parodo proporcingą produkcijos pokytį, kurios Europos valstybės labiausiai suinteresuotos į gamybą. Nors Danija ir San Marinas nėra santykinai didel4s valstybės, bet jos išsiskiria sparčiu industrijos augimu. </a:t>
            </a:r>
            <a:endParaRPr sz="1500">
              <a:solidFill>
                <a:srgbClr val="F8FAFC"/>
              </a:solidFill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rgbClr val="F8FAF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INDUSTRIJOS AUGIMAS 2024 M.</a:t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22"/>
          <p:cNvPicPr preferRelativeResize="0"/>
          <p:nvPr/>
        </p:nvPicPr>
        <p:blipFill rotWithShape="1">
          <a:blip r:embed="rId4">
            <a:alphaModFix/>
          </a:blip>
          <a:srcRect r="3250"/>
          <a:stretch/>
        </p:blipFill>
        <p:spPr>
          <a:xfrm>
            <a:off x="6857375" y="1564475"/>
            <a:ext cx="4414100" cy="33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222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847725" y="22400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6381750" y="5096837"/>
            <a:ext cx="484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EUR/ USD valiutų kursas</a:t>
            </a:r>
            <a:endParaRPr sz="1300"/>
          </a:p>
        </p:txBody>
      </p:sp>
      <p:sp>
        <p:nvSpPr>
          <p:cNvPr id="253" name="Google Shape;253;p23"/>
          <p:cNvSpPr txBox="1"/>
          <p:nvPr/>
        </p:nvSpPr>
        <p:spPr>
          <a:xfrm>
            <a:off x="847725" y="25448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962025" y="2544812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Sąnaudų valiuta (Google Ads, AWS, API prieigos).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847725" y="28496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962025" y="2849612"/>
            <a:ext cx="4848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GBP: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Tikslinė klientų valiuta (JK el. komercijos rinka).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847725" y="315441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962025" y="3154412"/>
            <a:ext cx="4848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Strategija: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"Limit orders" naudojimas stambiems mokėjimams ir aktyvus ECB bei FED politikos stebėjimas.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VALIUTŲ RIZIKOS VALDYMAS</a:t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1750" y="1821400"/>
            <a:ext cx="4967400" cy="32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847725" y="2240012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962025" y="2240012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EUR: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Pagrindinė operacinė valiuta (nuoma, atlyginimai).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847725" y="2544812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962025" y="2544812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Sąnaudų valiuta (Google Ads, AWS, API prieigos).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847725" y="2849612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962025" y="2849612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GBP: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Tikslinė klientų valiuta (JK el. komercijos rinka).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847725" y="3154412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962025" y="3154412"/>
            <a:ext cx="48483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Strategija: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"Limit orders" naudojimas stambiems mokėjimams ir aktyvus ECB bei FED politikos stebėjimas.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771525" y="581025"/>
            <a:ext cx="1138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VALIUTŲ RIZIKOS VALDYMAS</a:t>
            </a:r>
            <a:endParaRPr/>
          </a:p>
        </p:txBody>
      </p:sp>
      <p:sp>
        <p:nvSpPr>
          <p:cNvPr id="276" name="Google Shape;276;p24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5525" y="1748788"/>
            <a:ext cx="5191749" cy="336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6381750" y="5096837"/>
            <a:ext cx="484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GBR/ EUR valiutų kursas</a:t>
            </a:r>
            <a:endParaRPr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847725" y="2240012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962025" y="2240012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EUR: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Pagrindinė operacinė valiuta (nuoma, atlyginimai).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847725" y="2544812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962025" y="2544812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Sąnaudų valiuta (Google Ads, AWS, API prieigos).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847725" y="2849612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962025" y="2849612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GBP: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Tikslinė klientų valiuta (JK el. komercijos rinka).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847725" y="3154412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962025" y="3154412"/>
            <a:ext cx="48483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Strategija: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"Limit orders" naudojimas stambiems mokėjimams ir aktyvus ECB bei FED politikos stebėjimas.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771525" y="581025"/>
            <a:ext cx="1138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VALIUTŲ RIZIKOS VALDYMAS</a:t>
            </a: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0525" y="1600300"/>
            <a:ext cx="5650600" cy="36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 txBox="1"/>
          <p:nvPr/>
        </p:nvSpPr>
        <p:spPr>
          <a:xfrm>
            <a:off x="6220525" y="5379087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EUR/ PLN valiutų kursas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6"/>
          <p:cNvSpPr txBox="1"/>
          <p:nvPr/>
        </p:nvSpPr>
        <p:spPr>
          <a:xfrm>
            <a:off x="771525" y="581025"/>
            <a:ext cx="1138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VALIUTŲ RIZIKOS VALDYMAS</a:t>
            </a:r>
            <a:endParaRPr/>
          </a:p>
        </p:txBody>
      </p:sp>
      <p:sp>
        <p:nvSpPr>
          <p:cNvPr id="302" name="Google Shape;302;p26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 txBox="1"/>
          <p:nvPr/>
        </p:nvSpPr>
        <p:spPr>
          <a:xfrm>
            <a:off x="990600" y="4533137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Dolerio kurso įtaka mūsų įsigytoms paslaugoms</a:t>
            </a:r>
            <a:endParaRPr/>
          </a:p>
        </p:txBody>
      </p:sp>
      <p:pic>
        <p:nvPicPr>
          <p:cNvPr id="304" name="Google Shape;30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600" y="2414588"/>
            <a:ext cx="10210800" cy="20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32707"/>
            <a:ext cx="3479750" cy="3430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6525" y="2132707"/>
            <a:ext cx="3498800" cy="3430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31075" y="2132707"/>
            <a:ext cx="3479750" cy="343078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7"/>
          <p:cNvSpPr txBox="1"/>
          <p:nvPr/>
        </p:nvSpPr>
        <p:spPr>
          <a:xfrm>
            <a:off x="904082" y="3304282"/>
            <a:ext cx="283363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Standartinė</a:t>
            </a:r>
            <a:endParaRPr/>
          </a:p>
        </p:txBody>
      </p:sp>
      <p:sp>
        <p:nvSpPr>
          <p:cNvPr id="314" name="Google Shape;314;p27"/>
          <p:cNvSpPr txBox="1"/>
          <p:nvPr/>
        </p:nvSpPr>
        <p:spPr>
          <a:xfrm>
            <a:off x="971550" y="3771007"/>
            <a:ext cx="26987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450 €</a:t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971550" y="4401442"/>
            <a:ext cx="2698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Pristatymas: 2 dienos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Greita rinkos apžvalga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4679107" y="3313807"/>
            <a:ext cx="283363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Premium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4746575" y="3780532"/>
            <a:ext cx="26987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850 €</a:t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4746575" y="4410967"/>
            <a:ext cx="2698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Pristatymas: 1 diena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Išsami konkurentų analizė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8454133" y="3304282"/>
            <a:ext cx="283363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Abonementas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8521600" y="3771007"/>
            <a:ext cx="26987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1 200 €/mėn</a:t>
            </a:r>
            <a:endParaRPr/>
          </a:p>
        </p:txBody>
      </p:sp>
      <p:sp>
        <p:nvSpPr>
          <p:cNvPr id="321" name="Google Shape;321;p27"/>
          <p:cNvSpPr txBox="1"/>
          <p:nvPr/>
        </p:nvSpPr>
        <p:spPr>
          <a:xfrm>
            <a:off x="8521600" y="4401442"/>
            <a:ext cx="26987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Nuolatinės įžvalgos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Prognozuojamos išlaidos</a:t>
            </a:r>
            <a:endParaRPr/>
          </a:p>
        </p:txBody>
      </p:sp>
      <p:pic>
        <p:nvPicPr>
          <p:cNvPr id="322" name="Google Shape;322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49375" y="257085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7251" y="258038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70851" y="257085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7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KAINODAROS MODELIS</a:t>
            </a:r>
            <a:endParaRPr/>
          </a:p>
        </p:txBody>
      </p:sp>
      <p:sp>
        <p:nvSpPr>
          <p:cNvPr id="326" name="Google Shape;326;p27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8"/>
          <p:cNvSpPr txBox="1"/>
          <p:nvPr/>
        </p:nvSpPr>
        <p:spPr>
          <a:xfrm>
            <a:off x="581025" y="5746402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Rodiklinis trendo modelis: R² = 0.8956</a:t>
            </a:r>
            <a:endParaRPr/>
          </a:p>
        </p:txBody>
      </p:sp>
      <p:sp>
        <p:nvSpPr>
          <p:cNvPr id="333" name="Google Shape;333;p28"/>
          <p:cNvSpPr txBox="1"/>
          <p:nvPr/>
        </p:nvSpPr>
        <p:spPr>
          <a:xfrm>
            <a:off x="581025" y="6194077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Numatomas vidutinis metinis pajamų augimas: 35%</a:t>
            </a:r>
            <a:endParaRPr/>
          </a:p>
        </p:txBody>
      </p:sp>
      <p:sp>
        <p:nvSpPr>
          <p:cNvPr id="334" name="Google Shape;334;p28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PAJAMŲ PROGNOZĖ (2026-2029)</a:t>
            </a:r>
            <a:endParaRPr/>
          </a:p>
        </p:txBody>
      </p:sp>
      <p:sp>
        <p:nvSpPr>
          <p:cNvPr id="335" name="Google Shape;335;p28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9007" y="1276262"/>
            <a:ext cx="7273988" cy="43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9"/>
          <p:cNvSpPr txBox="1"/>
          <p:nvPr/>
        </p:nvSpPr>
        <p:spPr>
          <a:xfrm>
            <a:off x="581025" y="5746402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Rodiklinis trendo modelis: R² = 0.8956</a:t>
            </a:r>
            <a:endParaRPr/>
          </a:p>
        </p:txBody>
      </p:sp>
      <p:sp>
        <p:nvSpPr>
          <p:cNvPr id="343" name="Google Shape;343;p29"/>
          <p:cNvSpPr txBox="1"/>
          <p:nvPr/>
        </p:nvSpPr>
        <p:spPr>
          <a:xfrm>
            <a:off x="581025" y="6194077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Numatomas vidutinis metinis pajamų augimas: 35%</a:t>
            </a:r>
            <a:endParaRPr/>
          </a:p>
        </p:txBody>
      </p:sp>
      <p:sp>
        <p:nvSpPr>
          <p:cNvPr id="344" name="Google Shape;344;p29"/>
          <p:cNvSpPr txBox="1"/>
          <p:nvPr/>
        </p:nvSpPr>
        <p:spPr>
          <a:xfrm>
            <a:off x="771525" y="581025"/>
            <a:ext cx="1138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PAJAMŲ PROGNOZĖ (2026-2029)</a:t>
            </a:r>
            <a:endParaRPr/>
          </a:p>
        </p:txBody>
      </p:sp>
      <p:sp>
        <p:nvSpPr>
          <p:cNvPr id="345" name="Google Shape;345;p29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3675" y="1914525"/>
            <a:ext cx="672465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9"/>
          <p:cNvSpPr txBox="1"/>
          <p:nvPr/>
        </p:nvSpPr>
        <p:spPr>
          <a:xfrm>
            <a:off x="3270275" y="4943475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 b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Prognozavimo analize</a:t>
            </a:r>
            <a:endParaRPr sz="1500" b="1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0"/>
          <p:cNvSpPr txBox="1"/>
          <p:nvPr/>
        </p:nvSpPr>
        <p:spPr>
          <a:xfrm>
            <a:off x="771525" y="581025"/>
            <a:ext cx="1138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Investicinių rodiklių skaičiavimas</a:t>
            </a:r>
            <a:endParaRPr/>
          </a:p>
        </p:txBody>
      </p:sp>
      <p:sp>
        <p:nvSpPr>
          <p:cNvPr id="354" name="Google Shape;354;p30"/>
          <p:cNvSpPr/>
          <p:nvPr/>
        </p:nvSpPr>
        <p:spPr>
          <a:xfrm>
            <a:off x="581025" y="581025"/>
            <a:ext cx="573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325" y="1523300"/>
            <a:ext cx="681990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90025" y="4569713"/>
            <a:ext cx="3962400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0"/>
          <p:cNvSpPr txBox="1"/>
          <p:nvPr/>
        </p:nvSpPr>
        <p:spPr>
          <a:xfrm>
            <a:off x="638325" y="4338725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 b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Rodiklių skaičiavimai</a:t>
            </a:r>
            <a:endParaRPr sz="1500" b="1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8" name="Google Shape;358;p30"/>
          <p:cNvSpPr txBox="1"/>
          <p:nvPr/>
        </p:nvSpPr>
        <p:spPr>
          <a:xfrm>
            <a:off x="6784500" y="5831725"/>
            <a:ext cx="4848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500" b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Investicinio projekto vertinimo suvestinė ir rekomendacijos</a:t>
            </a:r>
            <a:endParaRPr sz="1500" b="1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1"/>
          <p:cNvSpPr txBox="1"/>
          <p:nvPr/>
        </p:nvSpPr>
        <p:spPr>
          <a:xfrm>
            <a:off x="305276" y="581025"/>
            <a:ext cx="1158144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Klausimai?</a:t>
            </a:r>
            <a:endParaRPr/>
          </a:p>
        </p:txBody>
      </p:sp>
      <p:sp>
        <p:nvSpPr>
          <p:cNvPr id="365" name="Google Shape;365;p31"/>
          <p:cNvSpPr txBox="1"/>
          <p:nvPr/>
        </p:nvSpPr>
        <p:spPr>
          <a:xfrm>
            <a:off x="581025" y="1914525"/>
            <a:ext cx="110299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Išvada: Inžinerinis sprendimas yra ekonomiškai pagrįstas,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1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turi aiškią rinkos nišą ir tvarias augimo prognozes.</a:t>
            </a:r>
            <a:endParaRPr/>
          </a:p>
        </p:txBody>
      </p:sp>
      <p:sp>
        <p:nvSpPr>
          <p:cNvPr id="366" name="Google Shape;366;p31"/>
          <p:cNvSpPr txBox="1"/>
          <p:nvPr/>
        </p:nvSpPr>
        <p:spPr>
          <a:xfrm>
            <a:off x="581025" y="333940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Kristupas Velžys | Jovita Valukonytė | Nojus</a:t>
            </a:r>
            <a:endParaRPr/>
          </a:p>
        </p:txBody>
      </p:sp>
      <p:sp>
        <p:nvSpPr>
          <p:cNvPr id="367" name="Google Shape;367;p31"/>
          <p:cNvSpPr txBox="1"/>
          <p:nvPr/>
        </p:nvSpPr>
        <p:spPr>
          <a:xfrm>
            <a:off x="581025" y="378708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Kauno technologijos universitetas, 2025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808</Words>
  <Application>Microsoft Office PowerPoint</Application>
  <PresentationFormat>Widescreen</PresentationFormat>
  <Paragraphs>160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Lato</vt:lpstr>
      <vt:lpstr>Calibri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Nojus Sajauskas</cp:lastModifiedBy>
  <cp:revision>1</cp:revision>
  <dcterms:modified xsi:type="dcterms:W3CDTF">2025-12-19T07:28:55Z</dcterms:modified>
</cp:coreProperties>
</file>