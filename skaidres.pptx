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y="6858000" cx="12192000"/>
  <p:notesSz cx="6858000" cy="9144000"/>
  <p:embeddedFontLst>
    <p:embeddedFont>
      <p:font typeface="Lato"/>
      <p:regular r:id="rId26"/>
      <p:bold r:id="rId27"/>
      <p:italic r:id="rId28"/>
      <p:boldItalic r:id="rId29"/>
    </p:embeddedFont>
    <p:embeddedFont>
      <p:font typeface="Urbanist"/>
      <p:regular r:id="rId30"/>
      <p:bold r:id="rId31"/>
      <p:italic r:id="rId32"/>
      <p:boldItalic r:id="rId33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B6F3FDDA-37BE-4496-AAE1-BF1B384DF4A6}">
  <a:tblStyle styleId="{B6F3FDDA-37BE-4496-AAE1-BF1B384DF4A6}" styleName="Table_0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8ECF4"/>
          </a:solidFill>
        </a:fill>
      </a:tcStyle>
    </a:wholeTbl>
    <a:band1H>
      <a:tcTxStyle/>
      <a:tcStyle>
        <a:fill>
          <a:solidFill>
            <a:srgbClr val="CFD7E7"/>
          </a:solidFill>
        </a:fill>
      </a:tcStyle>
    </a:band1H>
    <a:band2H>
      <a:tcTxStyle/>
    </a:band2H>
    <a:band1V>
      <a:tcTxStyle/>
      <a:tcStyle>
        <a:fill>
          <a:solidFill>
            <a:srgbClr val="CFD7E7"/>
          </a:solidFill>
        </a:fill>
      </a:tcStyle>
    </a:band1V>
    <a:band2V>
      <a:tcTxStyle/>
    </a:band2V>
    <a:la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4.xml"/><Relationship Id="rId22" Type="http://schemas.openxmlformats.org/officeDocument/2006/relationships/slide" Target="slides/slide16.xml"/><Relationship Id="rId21" Type="http://schemas.openxmlformats.org/officeDocument/2006/relationships/slide" Target="slides/slide15.xml"/><Relationship Id="rId24" Type="http://schemas.openxmlformats.org/officeDocument/2006/relationships/slide" Target="slides/slide18.xml"/><Relationship Id="rId23" Type="http://schemas.openxmlformats.org/officeDocument/2006/relationships/slide" Target="slides/slide17.xml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tableStyles" Target="tableStyles.xml"/><Relationship Id="rId9" Type="http://schemas.openxmlformats.org/officeDocument/2006/relationships/slide" Target="slides/slide3.xml"/><Relationship Id="rId26" Type="http://schemas.openxmlformats.org/officeDocument/2006/relationships/font" Target="fonts/Lato-regular.fntdata"/><Relationship Id="rId25" Type="http://schemas.openxmlformats.org/officeDocument/2006/relationships/slide" Target="slides/slide19.xml"/><Relationship Id="rId28" Type="http://schemas.openxmlformats.org/officeDocument/2006/relationships/font" Target="fonts/Lato-italic.fntdata"/><Relationship Id="rId27" Type="http://schemas.openxmlformats.org/officeDocument/2006/relationships/font" Target="fonts/Lato-bold.fntdata"/><Relationship Id="rId5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29" Type="http://schemas.openxmlformats.org/officeDocument/2006/relationships/font" Target="fonts/Lato-boldItalic.fntdata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31" Type="http://schemas.openxmlformats.org/officeDocument/2006/relationships/font" Target="fonts/Urbanist-bold.fntdata"/><Relationship Id="rId30" Type="http://schemas.openxmlformats.org/officeDocument/2006/relationships/font" Target="fonts/Urbanist-regular.fntdata"/><Relationship Id="rId11" Type="http://schemas.openxmlformats.org/officeDocument/2006/relationships/slide" Target="slides/slide5.xml"/><Relationship Id="rId33" Type="http://schemas.openxmlformats.org/officeDocument/2006/relationships/font" Target="fonts/Urbanist-boldItalic.fntdata"/><Relationship Id="rId10" Type="http://schemas.openxmlformats.org/officeDocument/2006/relationships/slide" Target="slides/slide4.xml"/><Relationship Id="rId32" Type="http://schemas.openxmlformats.org/officeDocument/2006/relationships/font" Target="fonts/Urbanist-italic.fntdata"/><Relationship Id="rId13" Type="http://schemas.openxmlformats.org/officeDocument/2006/relationships/slide" Target="slides/slide7.xml"/><Relationship Id="rId12" Type="http://schemas.openxmlformats.org/officeDocument/2006/relationships/slide" Target="slides/slide6.xml"/><Relationship Id="rId15" Type="http://schemas.openxmlformats.org/officeDocument/2006/relationships/slide" Target="slides/slide9.xml"/><Relationship Id="rId14" Type="http://schemas.openxmlformats.org/officeDocument/2006/relationships/slide" Target="slides/slide8.xml"/><Relationship Id="rId17" Type="http://schemas.openxmlformats.org/officeDocument/2006/relationships/slide" Target="slides/slide11.xml"/><Relationship Id="rId16" Type="http://schemas.openxmlformats.org/officeDocument/2006/relationships/slide" Target="slides/slide10.xml"/><Relationship Id="rId19" Type="http://schemas.openxmlformats.org/officeDocument/2006/relationships/slide" Target="slides/slide13.xml"/><Relationship Id="rId18" Type="http://schemas.openxmlformats.org/officeDocument/2006/relationships/slide" Target="slides/slide12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2" name="Google Shape;82;p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5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6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g3b1cb3bd32b_0_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g3b1cb3bd32b_0_8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9" name="Shape 1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Google Shape;200;g3b1cb3bd32b_0_2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1" name="Google Shape;201;g3b1cb3bd32b_0_29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1" name="Shape 2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Google Shape;212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3" name="Google Shape;213;p7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7" name="Shape 2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Google Shape;238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9" name="Google Shape;239;p8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8" name="Google Shape;248;p9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2" name="Shape 2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3" name="Google Shape;263;g3b1cb3bd32b_0_4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4" name="Google Shape;264;g3b1cb3bd32b_0_43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9" name="Shape 2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" name="Google Shape;280;g3b1cb3bd32b_0_6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1" name="Google Shape;281;g3b1cb3bd32b_0_60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g3b1cb3bd32b_0_1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8" name="Google Shape;298;g3b1cb3bd32b_0_116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5" name="Shape 3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6" name="Google Shape;306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7" name="Google Shape;307;p10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9" name="Google Shape;329;p1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g3b1cb3bd32b_0_9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g3b1cb3bd32b_0_94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8" name="Shape 3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9" name="Google Shape;349;g3b1cb3bd32b_0_8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0" name="Google Shape;350;g3b1cb3bd32b_0_80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9" name="Shape 3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0" name="Google Shape;360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61" name="Google Shape;361;p1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" name="Google Shape;13;p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" name="Google Shape;14;p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/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3"/>
          <p:cNvSpPr txBox="1"/>
          <p:nvPr>
            <p:ph idx="1" type="subTitle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18" name="Google Shape;18;p3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3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3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4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4" name="Google Shape;24;p4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4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4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 txBox="1"/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b="1" sz="4000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5"/>
          <p:cNvSpPr txBox="1"/>
          <p:nvPr>
            <p:ph idx="1" type="body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indent="-228600" lvl="1" marL="9144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0" name="Google Shape;30;p5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5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5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6"/>
          <p:cNvSpPr txBox="1"/>
          <p:nvPr>
            <p:ph idx="1" type="body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6" name="Google Shape;36;p6"/>
          <p:cNvSpPr txBox="1"/>
          <p:nvPr>
            <p:ph idx="2" type="body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7" name="Google Shape;37;p6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6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6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7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7"/>
          <p:cNvSpPr txBox="1"/>
          <p:nvPr>
            <p:ph idx="1" type="body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3" name="Google Shape;43;p7"/>
          <p:cNvSpPr txBox="1"/>
          <p:nvPr>
            <p:ph idx="2" type="body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4" name="Google Shape;44;p7"/>
          <p:cNvSpPr txBox="1"/>
          <p:nvPr>
            <p:ph idx="3" type="body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5" name="Google Shape;45;p7"/>
          <p:cNvSpPr txBox="1"/>
          <p:nvPr>
            <p:ph idx="4" type="body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6" name="Google Shape;46;p7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7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7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8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8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8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8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9"/>
          <p:cNvSpPr txBox="1"/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9"/>
          <p:cNvSpPr txBox="1"/>
          <p:nvPr>
            <p:ph idx="1" type="body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indent="-381000" lvl="2" marL="1371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indent="-355600" lvl="4" marL="22860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indent="-355600" lvl="5" marL="27432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57" name="Google Shape;57;p9"/>
          <p:cNvSpPr txBox="1"/>
          <p:nvPr>
            <p:ph idx="2" type="body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58" name="Google Shape;58;p9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9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9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0"/>
          <p:cNvSpPr txBox="1"/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10"/>
          <p:cNvSpPr/>
          <p:nvPr>
            <p:ph idx="2" type="pic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0"/>
          <p:cNvSpPr txBox="1"/>
          <p:nvPr>
            <p:ph idx="1" type="body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65" name="Google Shape;65;p10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10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10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11"/>
          <p:cNvSpPr txBox="1"/>
          <p:nvPr>
            <p:ph idx="1" type="body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1" name="Google Shape;71;p1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1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2"/>
          <p:cNvSpPr txBox="1"/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2"/>
          <p:cNvSpPr txBox="1"/>
          <p:nvPr>
            <p:ph idx="1" type="body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7" name="Google Shape;77;p1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1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marR="0" rtl="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406400" lvl="1" marL="914400" marR="0" rtl="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81000" lvl="2" marL="1371600" marR="0" rtl="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55600" lvl="3" marL="1828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55600" lvl="4" marL="22860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9" name="Google Shape;9;p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" name="Google Shape;10;p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4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Relationship Id="rId4" Type="http://schemas.openxmlformats.org/officeDocument/2006/relationships/image" Target="../media/image16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Relationship Id="rId4" Type="http://schemas.openxmlformats.org/officeDocument/2006/relationships/image" Target="../media/image12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Relationship Id="rId4" Type="http://schemas.openxmlformats.org/officeDocument/2006/relationships/image" Target="../media/image2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19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4.png"/><Relationship Id="rId4" Type="http://schemas.openxmlformats.org/officeDocument/2006/relationships/image" Target="../media/image14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1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Relationship Id="rId4" Type="http://schemas.openxmlformats.org/officeDocument/2006/relationships/image" Target="../media/image1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4.png"/><Relationship Id="rId4" Type="http://schemas.openxmlformats.org/officeDocument/2006/relationships/image" Target="../media/image21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4.png"/><Relationship Id="rId4" Type="http://schemas.openxmlformats.org/officeDocument/2006/relationships/image" Target="../media/image7.png"/><Relationship Id="rId5" Type="http://schemas.openxmlformats.org/officeDocument/2006/relationships/image" Target="../media/image10.png"/><Relationship Id="rId6" Type="http://schemas.openxmlformats.org/officeDocument/2006/relationships/image" Target="../media/image6.png"/><Relationship Id="rId7" Type="http://schemas.openxmlformats.org/officeDocument/2006/relationships/image" Target="../media/image13.png"/><Relationship Id="rId8" Type="http://schemas.openxmlformats.org/officeDocument/2006/relationships/image" Target="../media/image11.png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4.png"/><Relationship Id="rId4" Type="http://schemas.openxmlformats.org/officeDocument/2006/relationships/image" Target="../media/image20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4.png"/><Relationship Id="rId4" Type="http://schemas.openxmlformats.org/officeDocument/2006/relationships/image" Target="../media/image18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4.png"/><Relationship Id="rId4" Type="http://schemas.openxmlformats.org/officeDocument/2006/relationships/image" Target="../media/image22.png"/><Relationship Id="rId5" Type="http://schemas.openxmlformats.org/officeDocument/2006/relationships/image" Target="../media/image8.png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F172A"/>
        </a:solidFill>
      </p:bgPr>
    </p:bg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84" name="Google Shape;84;p1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85" name="Google Shape;85;p13"/>
          <p:cNvSpPr txBox="1"/>
          <p:nvPr/>
        </p:nvSpPr>
        <p:spPr>
          <a:xfrm>
            <a:off x="581025" y="1209823"/>
            <a:ext cx="11029950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10B981"/>
                </a:solidFill>
                <a:latin typeface="Lato"/>
                <a:ea typeface="Lato"/>
                <a:cs typeface="Lato"/>
                <a:sym typeface="Lato"/>
              </a:rPr>
              <a:t>KTU EKONOMIKOS IR VERSLO FAKULTETAS</a:t>
            </a:r>
            <a:endParaRPr/>
          </a:p>
        </p:txBody>
      </p:sp>
      <p:sp>
        <p:nvSpPr>
          <p:cNvPr id="86" name="Google Shape;86;p13"/>
          <p:cNvSpPr txBox="1"/>
          <p:nvPr/>
        </p:nvSpPr>
        <p:spPr>
          <a:xfrm>
            <a:off x="305276" y="1657498"/>
            <a:ext cx="11581447" cy="134094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4800" u="none" cap="none" strike="noStrike">
                <a:solidFill>
                  <a:srgbClr val="F8FAFC"/>
                </a:solidFill>
                <a:latin typeface="Urbanist"/>
                <a:ea typeface="Urbanist"/>
                <a:cs typeface="Urbanist"/>
                <a:sym typeface="Urbanist"/>
              </a:rPr>
              <a:t>Medžiagų produktams</a:t>
            </a:r>
            <a:br>
              <a:rPr b="0" i="0" lang="en-US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1" i="0" lang="en-US" sz="4800" u="none" cap="none" strike="noStrike">
                <a:solidFill>
                  <a:srgbClr val="F8FAFC"/>
                </a:solidFill>
                <a:latin typeface="Urbanist"/>
                <a:ea typeface="Urbanist"/>
                <a:cs typeface="Urbanist"/>
                <a:sym typeface="Urbanist"/>
              </a:rPr>
              <a:t> parinkimo sistema</a:t>
            </a:r>
            <a:endParaRPr/>
          </a:p>
        </p:txBody>
      </p:sp>
      <p:sp>
        <p:nvSpPr>
          <p:cNvPr id="87" name="Google Shape;87;p13"/>
          <p:cNvSpPr/>
          <p:nvPr/>
        </p:nvSpPr>
        <p:spPr>
          <a:xfrm>
            <a:off x="5619750" y="3474690"/>
            <a:ext cx="952500" cy="381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8" name="Google Shape;88;p13"/>
          <p:cNvSpPr txBox="1"/>
          <p:nvPr/>
        </p:nvSpPr>
        <p:spPr>
          <a:xfrm>
            <a:off x="581025" y="3798540"/>
            <a:ext cx="11029950" cy="36567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5994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Inžinerinio sprendimo ekonominis pagrindimas</a:t>
            </a:r>
            <a:endParaRPr/>
          </a:p>
        </p:txBody>
      </p:sp>
      <p:sp>
        <p:nvSpPr>
          <p:cNvPr id="89" name="Google Shape;89;p13"/>
          <p:cNvSpPr txBox="1"/>
          <p:nvPr/>
        </p:nvSpPr>
        <p:spPr>
          <a:xfrm>
            <a:off x="581025" y="4783335"/>
            <a:ext cx="11030100" cy="231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Parengė: Kristupas Velžys, Jovita Valukonytė, Nojus Sajauskas</a:t>
            </a:r>
            <a:endParaRPr/>
          </a:p>
        </p:txBody>
      </p:sp>
      <p:sp>
        <p:nvSpPr>
          <p:cNvPr id="90" name="Google Shape;90;p13"/>
          <p:cNvSpPr txBox="1"/>
          <p:nvPr/>
        </p:nvSpPr>
        <p:spPr>
          <a:xfrm>
            <a:off x="581025" y="5231010"/>
            <a:ext cx="11029950" cy="2742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50" u="none" cap="none" strike="noStrike">
                <a:solidFill>
                  <a:srgbClr val="64748B"/>
                </a:solidFill>
                <a:latin typeface="Lato"/>
                <a:ea typeface="Lato"/>
                <a:cs typeface="Lato"/>
                <a:sym typeface="Lato"/>
              </a:rPr>
              <a:t>Kaunas, 2025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F172A"/>
        </a:solidFill>
      </p:bgPr>
    </p:bg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95" name="Google Shape;95;p1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96" name="Google Shape;96;p1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81025" y="2543175"/>
            <a:ext cx="5372100" cy="26098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97" name="Google Shape;97;p1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238875" y="2543175"/>
            <a:ext cx="5372100" cy="2609850"/>
          </a:xfrm>
          <a:prstGeom prst="rect">
            <a:avLst/>
          </a:prstGeom>
          <a:noFill/>
          <a:ln>
            <a:noFill/>
          </a:ln>
        </p:spPr>
      </p:pic>
      <p:sp>
        <p:nvSpPr>
          <p:cNvPr id="98" name="Google Shape;98;p14"/>
          <p:cNvSpPr txBox="1"/>
          <p:nvPr/>
        </p:nvSpPr>
        <p:spPr>
          <a:xfrm>
            <a:off x="971550" y="2933700"/>
            <a:ext cx="4820602" cy="3238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100" u="none" cap="none" strike="noStrike">
                <a:solidFill>
                  <a:srgbClr val="10B981"/>
                </a:solidFill>
                <a:latin typeface="Urbanist"/>
                <a:ea typeface="Urbanist"/>
                <a:cs typeface="Urbanist"/>
                <a:sym typeface="Urbanist"/>
              </a:rPr>
              <a:t>Esminė problema</a:t>
            </a:r>
            <a:endParaRPr/>
          </a:p>
        </p:txBody>
      </p:sp>
      <p:sp>
        <p:nvSpPr>
          <p:cNvPr id="99" name="Google Shape;99;p14"/>
          <p:cNvSpPr txBox="1"/>
          <p:nvPr/>
        </p:nvSpPr>
        <p:spPr>
          <a:xfrm>
            <a:off x="971550" y="3400425"/>
            <a:ext cx="4591050" cy="1219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Prekybininkai neturi laiko ir techninių įgūdžių sistemingai analizuoti vartotojų atsiliepimus internete. Sprendimai priimami intuityviai, o tai sukelia didelę finansinę riziką.</a:t>
            </a:r>
            <a:endParaRPr/>
          </a:p>
        </p:txBody>
      </p:sp>
      <p:sp>
        <p:nvSpPr>
          <p:cNvPr id="100" name="Google Shape;100;p14"/>
          <p:cNvSpPr txBox="1"/>
          <p:nvPr/>
        </p:nvSpPr>
        <p:spPr>
          <a:xfrm>
            <a:off x="6629400" y="2933700"/>
            <a:ext cx="4820602" cy="3238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100" u="none" cap="none" strike="noStrike">
                <a:solidFill>
                  <a:srgbClr val="10B981"/>
                </a:solidFill>
                <a:latin typeface="Urbanist"/>
                <a:ea typeface="Urbanist"/>
                <a:cs typeface="Urbanist"/>
                <a:sym typeface="Urbanist"/>
              </a:rPr>
              <a:t>Mūsų sprendimas</a:t>
            </a:r>
            <a:endParaRPr/>
          </a:p>
        </p:txBody>
      </p:sp>
      <p:sp>
        <p:nvSpPr>
          <p:cNvPr id="101" name="Google Shape;101;p14"/>
          <p:cNvSpPr txBox="1"/>
          <p:nvPr/>
        </p:nvSpPr>
        <p:spPr>
          <a:xfrm>
            <a:off x="6629400" y="3400425"/>
            <a:ext cx="4591050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Automatizuotas įrankis ("Scraperis"), atliekantis išsamią rinkos analizę "Youtube", "Facebook", "X" ir "Reddit" platformose per 1-2 darbo dienas.</a:t>
            </a:r>
            <a:endParaRPr/>
          </a:p>
        </p:txBody>
      </p:sp>
      <p:sp>
        <p:nvSpPr>
          <p:cNvPr id="102" name="Google Shape;102;p14"/>
          <p:cNvSpPr txBox="1"/>
          <p:nvPr/>
        </p:nvSpPr>
        <p:spPr>
          <a:xfrm>
            <a:off x="771525" y="581025"/>
            <a:ext cx="1138142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F8FAFC"/>
                </a:solidFill>
                <a:latin typeface="Urbanist"/>
                <a:ea typeface="Urbanist"/>
                <a:cs typeface="Urbanist"/>
                <a:sym typeface="Urbanist"/>
              </a:rPr>
              <a:t>PROBLEMA IR SPRENDIMAS</a:t>
            </a:r>
            <a:endParaRPr/>
          </a:p>
        </p:txBody>
      </p:sp>
      <p:sp>
        <p:nvSpPr>
          <p:cNvPr id="103" name="Google Shape;103;p14"/>
          <p:cNvSpPr/>
          <p:nvPr/>
        </p:nvSpPr>
        <p:spPr>
          <a:xfrm>
            <a:off x="581025" y="581025"/>
            <a:ext cx="57150" cy="4572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F172A"/>
        </a:solidFill>
      </p:bgPr>
    </p:bg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108" name="Google Shape;108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09" name="Google Shape;109;p15"/>
          <p:cNvSpPr txBox="1"/>
          <p:nvPr/>
        </p:nvSpPr>
        <p:spPr>
          <a:xfrm>
            <a:off x="5963325" y="776462"/>
            <a:ext cx="5490600" cy="323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100" u="none" cap="none" strike="noStrike">
                <a:solidFill>
                  <a:srgbClr val="10B981"/>
                </a:solidFill>
                <a:latin typeface="Urbanist"/>
                <a:ea typeface="Urbanist"/>
                <a:cs typeface="Urbanist"/>
                <a:sym typeface="Urbanist"/>
              </a:rPr>
              <a:t>Lankstus "Scraperis"</a:t>
            </a:r>
            <a:endParaRPr/>
          </a:p>
        </p:txBody>
      </p:sp>
      <p:sp>
        <p:nvSpPr>
          <p:cNvPr id="110" name="Google Shape;110;p15"/>
          <p:cNvSpPr txBox="1"/>
          <p:nvPr/>
        </p:nvSpPr>
        <p:spPr>
          <a:xfrm>
            <a:off x="5963325" y="1243187"/>
            <a:ext cx="5229300" cy="969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Sistemos pagrindą sudaro API ir HTML parsavimo metodai. Duomenys automatiškai apdorojami, filtruojami ir grupuojami, identifikuojant tendencijas.</a:t>
            </a:r>
            <a:endParaRPr/>
          </a:p>
        </p:txBody>
      </p:sp>
      <p:sp>
        <p:nvSpPr>
          <p:cNvPr id="111" name="Google Shape;111;p15"/>
          <p:cNvSpPr txBox="1"/>
          <p:nvPr/>
        </p:nvSpPr>
        <p:spPr>
          <a:xfrm>
            <a:off x="5963325" y="2300462"/>
            <a:ext cx="5229300" cy="600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Rezultatas:</a:t>
            </a:r>
            <a:r>
              <a:rPr b="0" i="0" lang="en-US" sz="1500" u="none" cap="none" strike="noStrike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 Aiški, veiksmams orientuota ataskaita su strateginėmis rekomendacijomis.</a:t>
            </a:r>
            <a:endParaRPr/>
          </a:p>
        </p:txBody>
      </p:sp>
      <p:sp>
        <p:nvSpPr>
          <p:cNvPr id="112" name="Google Shape;112;p15"/>
          <p:cNvSpPr txBox="1"/>
          <p:nvPr/>
        </p:nvSpPr>
        <p:spPr>
          <a:xfrm>
            <a:off x="771525" y="581025"/>
            <a:ext cx="1138142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F8FAFC"/>
                </a:solidFill>
                <a:latin typeface="Urbanist"/>
                <a:ea typeface="Urbanist"/>
                <a:cs typeface="Urbanist"/>
                <a:sym typeface="Urbanist"/>
              </a:rPr>
              <a:t>TECHNINĖ ARCHITEKTŪRA</a:t>
            </a:r>
            <a:endParaRPr/>
          </a:p>
        </p:txBody>
      </p:sp>
      <p:sp>
        <p:nvSpPr>
          <p:cNvPr id="113" name="Google Shape;113;p15"/>
          <p:cNvSpPr/>
          <p:nvPr/>
        </p:nvSpPr>
        <p:spPr>
          <a:xfrm>
            <a:off x="581025" y="581025"/>
            <a:ext cx="57150" cy="4572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14" name="Google Shape;114;p1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83275" y="3356850"/>
            <a:ext cx="9474201" cy="31909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F172A"/>
        </a:solidFill>
      </p:bgPr>
    </p:bg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119" name="Google Shape;119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120" name="Google Shape;120;p16"/>
          <p:cNvGraphicFramePr/>
          <p:nvPr/>
        </p:nvGraphicFramePr>
        <p:xfrm>
          <a:off x="581025" y="2162175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{B6F3FDDA-37BE-4496-AAE1-BF1B384DF4A6}</a:tableStyleId>
              </a:tblPr>
              <a:tblGrid>
                <a:gridCol w="3400425"/>
                <a:gridCol w="3814625"/>
                <a:gridCol w="1553475"/>
                <a:gridCol w="2261450"/>
              </a:tblGrid>
              <a:tr h="4817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200" u="none" cap="none" strike="noStrike">
                          <a:solidFill>
                            <a:srgbClr val="0F172A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Turtas / Įranga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0B98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200" u="none" cap="none" strike="noStrike">
                          <a:solidFill>
                            <a:srgbClr val="0F172A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Modelis / Tiekėjas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0B98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200" u="none" cap="none" strike="noStrike">
                          <a:solidFill>
                            <a:srgbClr val="0F172A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Kiekis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0B98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200" u="none" cap="none" strike="noStrike">
                          <a:solidFill>
                            <a:srgbClr val="0F172A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Suma (Eur)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0B981"/>
                    </a:solidFill>
                  </a:tcPr>
                </a:tc>
              </a:tr>
              <a:tr h="4817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757575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Staliniai kompiuteriai</a:t>
                      </a:r>
                      <a:endParaRPr>
                        <a:solidFill>
                          <a:srgbClr val="757575"/>
                        </a:solidFill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757575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Apple iMac 24" (M3)</a:t>
                      </a:r>
                      <a:endParaRPr>
                        <a:solidFill>
                          <a:srgbClr val="757575"/>
                        </a:solidFill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757575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2</a:t>
                      </a:r>
                      <a:endParaRPr>
                        <a:solidFill>
                          <a:srgbClr val="757575"/>
                        </a:solidFill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757575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3,200</a:t>
                      </a:r>
                      <a:endParaRPr>
                        <a:solidFill>
                          <a:srgbClr val="757575"/>
                        </a:solidFill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4817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757575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Ergonominės kėdės</a:t>
                      </a:r>
                      <a:endParaRPr>
                        <a:solidFill>
                          <a:srgbClr val="757575"/>
                        </a:solidFill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757575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HÅG Capisco</a:t>
                      </a:r>
                      <a:endParaRPr>
                        <a:solidFill>
                          <a:srgbClr val="757575"/>
                        </a:solidFill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757575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3</a:t>
                      </a:r>
                      <a:endParaRPr>
                        <a:solidFill>
                          <a:srgbClr val="757575"/>
                        </a:solidFill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757575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2,400</a:t>
                      </a:r>
                      <a:endParaRPr>
                        <a:solidFill>
                          <a:srgbClr val="757575"/>
                        </a:solidFill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4817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757575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Debesų infrastruktūra</a:t>
                      </a:r>
                      <a:endParaRPr>
                        <a:solidFill>
                          <a:srgbClr val="757575"/>
                        </a:solidFill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757575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Amazon AWS</a:t>
                      </a:r>
                      <a:endParaRPr>
                        <a:solidFill>
                          <a:srgbClr val="757575"/>
                        </a:solidFill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757575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-</a:t>
                      </a:r>
                      <a:endParaRPr>
                        <a:solidFill>
                          <a:srgbClr val="757575"/>
                        </a:solidFill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757575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1,800</a:t>
                      </a:r>
                      <a:endParaRPr>
                        <a:solidFill>
                          <a:srgbClr val="757575"/>
                        </a:solidFill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4817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757575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Dirbtinio intelekto API</a:t>
                      </a:r>
                      <a:endParaRPr>
                        <a:solidFill>
                          <a:srgbClr val="757575"/>
                        </a:solidFill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757575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OpenAI ChatGPT (GPT-4)</a:t>
                      </a:r>
                      <a:endParaRPr>
                        <a:solidFill>
                          <a:srgbClr val="757575"/>
                        </a:solidFill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757575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3</a:t>
                      </a:r>
                      <a:endParaRPr>
                        <a:solidFill>
                          <a:srgbClr val="757575"/>
                        </a:solidFill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757575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1,000</a:t>
                      </a:r>
                      <a:endParaRPr>
                        <a:solidFill>
                          <a:srgbClr val="757575"/>
                        </a:solidFill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4817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757575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Duomenų rinkimo API</a:t>
                      </a:r>
                      <a:endParaRPr>
                        <a:solidFill>
                          <a:srgbClr val="757575"/>
                        </a:solidFill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757575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Bright Data / Scrapingbee</a:t>
                      </a:r>
                      <a:endParaRPr>
                        <a:solidFill>
                          <a:srgbClr val="757575"/>
                        </a:solidFill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757575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1</a:t>
                      </a:r>
                      <a:endParaRPr>
                        <a:solidFill>
                          <a:srgbClr val="757575"/>
                        </a:solidFill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757575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1,200</a:t>
                      </a:r>
                      <a:endParaRPr>
                        <a:solidFill>
                          <a:srgbClr val="757575"/>
                        </a:solidFill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4817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200" u="none" cap="none" strike="noStrike">
                          <a:solidFill>
                            <a:srgbClr val="F8FAFC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IŠ VISO INVESTICIJŲ (2026 m.)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0B98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200" u="none" cap="none" strike="noStrike">
                          <a:solidFill>
                            <a:srgbClr val="F8FAFC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11,880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0B98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  <p:sp>
        <p:nvSpPr>
          <p:cNvPr id="121" name="Google Shape;121;p16"/>
          <p:cNvSpPr/>
          <p:nvPr/>
        </p:nvSpPr>
        <p:spPr>
          <a:xfrm>
            <a:off x="581025" y="2633662"/>
            <a:ext cx="3400425" cy="9525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2" name="Google Shape;122;p16"/>
          <p:cNvSpPr/>
          <p:nvPr/>
        </p:nvSpPr>
        <p:spPr>
          <a:xfrm>
            <a:off x="3981450" y="2633662"/>
            <a:ext cx="3814613" cy="9525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3" name="Google Shape;123;p16"/>
          <p:cNvSpPr/>
          <p:nvPr/>
        </p:nvSpPr>
        <p:spPr>
          <a:xfrm>
            <a:off x="7796063" y="2633662"/>
            <a:ext cx="1553467" cy="9525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4" name="Google Shape;124;p16"/>
          <p:cNvSpPr/>
          <p:nvPr/>
        </p:nvSpPr>
        <p:spPr>
          <a:xfrm>
            <a:off x="9349531" y="2633662"/>
            <a:ext cx="2261443" cy="9525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5" name="Google Shape;125;p16"/>
          <p:cNvSpPr/>
          <p:nvPr/>
        </p:nvSpPr>
        <p:spPr>
          <a:xfrm>
            <a:off x="581025" y="3109912"/>
            <a:ext cx="3400425" cy="9525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6" name="Google Shape;126;p16"/>
          <p:cNvSpPr/>
          <p:nvPr/>
        </p:nvSpPr>
        <p:spPr>
          <a:xfrm>
            <a:off x="3981450" y="3109912"/>
            <a:ext cx="3814613" cy="9525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7" name="Google Shape;127;p16"/>
          <p:cNvSpPr/>
          <p:nvPr/>
        </p:nvSpPr>
        <p:spPr>
          <a:xfrm>
            <a:off x="7796063" y="3109912"/>
            <a:ext cx="1553467" cy="9525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8" name="Google Shape;128;p16"/>
          <p:cNvSpPr/>
          <p:nvPr/>
        </p:nvSpPr>
        <p:spPr>
          <a:xfrm>
            <a:off x="9349531" y="3109912"/>
            <a:ext cx="2261443" cy="9525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9" name="Google Shape;129;p16"/>
          <p:cNvSpPr/>
          <p:nvPr/>
        </p:nvSpPr>
        <p:spPr>
          <a:xfrm>
            <a:off x="581025" y="3595687"/>
            <a:ext cx="3400425" cy="9525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0" name="Google Shape;130;p16"/>
          <p:cNvSpPr/>
          <p:nvPr/>
        </p:nvSpPr>
        <p:spPr>
          <a:xfrm>
            <a:off x="3981450" y="3595687"/>
            <a:ext cx="3814613" cy="9525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1" name="Google Shape;131;p16"/>
          <p:cNvSpPr/>
          <p:nvPr/>
        </p:nvSpPr>
        <p:spPr>
          <a:xfrm>
            <a:off x="7796063" y="3595687"/>
            <a:ext cx="1553467" cy="9525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2" name="Google Shape;132;p16"/>
          <p:cNvSpPr/>
          <p:nvPr/>
        </p:nvSpPr>
        <p:spPr>
          <a:xfrm>
            <a:off x="9349531" y="3595687"/>
            <a:ext cx="2261443" cy="9525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3" name="Google Shape;133;p16"/>
          <p:cNvSpPr/>
          <p:nvPr/>
        </p:nvSpPr>
        <p:spPr>
          <a:xfrm>
            <a:off x="581025" y="4081462"/>
            <a:ext cx="3400425" cy="9525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4" name="Google Shape;134;p16"/>
          <p:cNvSpPr/>
          <p:nvPr/>
        </p:nvSpPr>
        <p:spPr>
          <a:xfrm>
            <a:off x="3981450" y="4081462"/>
            <a:ext cx="3814613" cy="9525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5" name="Google Shape;135;p16"/>
          <p:cNvSpPr/>
          <p:nvPr/>
        </p:nvSpPr>
        <p:spPr>
          <a:xfrm>
            <a:off x="7796063" y="4081462"/>
            <a:ext cx="1553467" cy="9525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6" name="Google Shape;136;p16"/>
          <p:cNvSpPr/>
          <p:nvPr/>
        </p:nvSpPr>
        <p:spPr>
          <a:xfrm>
            <a:off x="9349531" y="4081462"/>
            <a:ext cx="2261443" cy="9525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7" name="Google Shape;137;p16"/>
          <p:cNvSpPr/>
          <p:nvPr/>
        </p:nvSpPr>
        <p:spPr>
          <a:xfrm>
            <a:off x="581025" y="4557712"/>
            <a:ext cx="3400425" cy="9525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6"/>
          <p:cNvSpPr/>
          <p:nvPr/>
        </p:nvSpPr>
        <p:spPr>
          <a:xfrm>
            <a:off x="3981450" y="4557712"/>
            <a:ext cx="3814613" cy="9525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9" name="Google Shape;139;p16"/>
          <p:cNvSpPr/>
          <p:nvPr/>
        </p:nvSpPr>
        <p:spPr>
          <a:xfrm>
            <a:off x="7796063" y="4557712"/>
            <a:ext cx="1553467" cy="9525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0" name="Google Shape;140;p16"/>
          <p:cNvSpPr/>
          <p:nvPr/>
        </p:nvSpPr>
        <p:spPr>
          <a:xfrm>
            <a:off x="9349531" y="4557712"/>
            <a:ext cx="2261443" cy="9525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1" name="Google Shape;141;p16"/>
          <p:cNvSpPr/>
          <p:nvPr/>
        </p:nvSpPr>
        <p:spPr>
          <a:xfrm>
            <a:off x="581025" y="5043487"/>
            <a:ext cx="3400425" cy="9525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2" name="Google Shape;142;p16"/>
          <p:cNvSpPr/>
          <p:nvPr/>
        </p:nvSpPr>
        <p:spPr>
          <a:xfrm>
            <a:off x="3981450" y="5043487"/>
            <a:ext cx="3814613" cy="9525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3" name="Google Shape;143;p16"/>
          <p:cNvSpPr/>
          <p:nvPr/>
        </p:nvSpPr>
        <p:spPr>
          <a:xfrm>
            <a:off x="7796063" y="5043487"/>
            <a:ext cx="1553467" cy="9525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4" name="Google Shape;144;p16"/>
          <p:cNvSpPr/>
          <p:nvPr/>
        </p:nvSpPr>
        <p:spPr>
          <a:xfrm>
            <a:off x="9349531" y="5043487"/>
            <a:ext cx="2261443" cy="9525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5" name="Google Shape;145;p16"/>
          <p:cNvSpPr txBox="1"/>
          <p:nvPr/>
        </p:nvSpPr>
        <p:spPr>
          <a:xfrm>
            <a:off x="771525" y="581025"/>
            <a:ext cx="1138142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F8FAFC"/>
                </a:solidFill>
                <a:latin typeface="Urbanist"/>
                <a:ea typeface="Urbanist"/>
                <a:cs typeface="Urbanist"/>
                <a:sym typeface="Urbanist"/>
              </a:rPr>
              <a:t>INVESTICIJŲ POREIKIS (2026 M.)</a:t>
            </a:r>
            <a:endParaRPr/>
          </a:p>
        </p:txBody>
      </p:sp>
      <p:sp>
        <p:nvSpPr>
          <p:cNvPr id="146" name="Google Shape;146;p16"/>
          <p:cNvSpPr/>
          <p:nvPr/>
        </p:nvSpPr>
        <p:spPr>
          <a:xfrm>
            <a:off x="581025" y="581025"/>
            <a:ext cx="57150" cy="4572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F172A"/>
        </a:solidFill>
      </p:bgPr>
    </p:bg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151" name="Google Shape;15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152" name="Google Shape;152;p17"/>
          <p:cNvGraphicFramePr/>
          <p:nvPr/>
        </p:nvGraphicFramePr>
        <p:xfrm>
          <a:off x="581025" y="2400300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{B6F3FDDA-37BE-4496-AAE1-BF1B384DF4A6}</a:tableStyleId>
              </a:tblPr>
              <a:tblGrid>
                <a:gridCol w="2770275"/>
                <a:gridCol w="4323750"/>
                <a:gridCol w="1967800"/>
                <a:gridCol w="1968100"/>
              </a:tblGrid>
              <a:tr h="4826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200" u="none">
                          <a:solidFill>
                            <a:srgbClr val="0F172A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Kategorija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0B98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200" u="none">
                          <a:solidFill>
                            <a:srgbClr val="0F172A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Aprašymas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0B98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200" u="none">
                          <a:solidFill>
                            <a:srgbClr val="0F172A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2026 m. (Eur)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0B98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200" u="none">
                          <a:solidFill>
                            <a:srgbClr val="0F172A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2027 m. (Eur)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0B981"/>
                    </a:solidFill>
                  </a:tcPr>
                </a:tc>
              </a:tr>
              <a:tr h="4826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>
                          <a:solidFill>
                            <a:srgbClr val="757575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Darbuotojų atlyginimai</a:t>
                      </a:r>
                      <a:endParaRPr>
                        <a:solidFill>
                          <a:srgbClr val="757575"/>
                        </a:solidFill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>
                          <a:solidFill>
                            <a:srgbClr val="757575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Direktorius, Programuotojas, Analitikas</a:t>
                      </a:r>
                      <a:endParaRPr>
                        <a:solidFill>
                          <a:srgbClr val="757575"/>
                        </a:solidFill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>
                          <a:solidFill>
                            <a:srgbClr val="757575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156,000</a:t>
                      </a:r>
                      <a:endParaRPr>
                        <a:solidFill>
                          <a:srgbClr val="757575"/>
                        </a:solidFill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>
                          <a:solidFill>
                            <a:srgbClr val="757575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172,000</a:t>
                      </a:r>
                      <a:endParaRPr>
                        <a:solidFill>
                          <a:srgbClr val="757575"/>
                        </a:solidFill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4826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>
                          <a:solidFill>
                            <a:srgbClr val="757575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Reklama</a:t>
                      </a:r>
                      <a:endParaRPr>
                        <a:solidFill>
                          <a:srgbClr val="757575"/>
                        </a:solidFill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>
                          <a:solidFill>
                            <a:srgbClr val="757575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Google Ads, SEO įrankiai</a:t>
                      </a:r>
                      <a:endParaRPr>
                        <a:solidFill>
                          <a:srgbClr val="757575"/>
                        </a:solidFill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>
                          <a:solidFill>
                            <a:srgbClr val="757575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11,800</a:t>
                      </a:r>
                      <a:endParaRPr>
                        <a:solidFill>
                          <a:srgbClr val="757575"/>
                        </a:solidFill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>
                          <a:solidFill>
                            <a:srgbClr val="757575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15,800</a:t>
                      </a:r>
                      <a:endParaRPr>
                        <a:solidFill>
                          <a:srgbClr val="757575"/>
                        </a:solidFill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4826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>
                          <a:solidFill>
                            <a:srgbClr val="757575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Patalpų nuoma</a:t>
                      </a:r>
                      <a:endParaRPr>
                        <a:solidFill>
                          <a:srgbClr val="757575"/>
                        </a:solidFill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>
                          <a:solidFill>
                            <a:srgbClr val="757575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Biuro nuoma (Aruodas.lt)</a:t>
                      </a:r>
                      <a:endParaRPr>
                        <a:solidFill>
                          <a:srgbClr val="757575"/>
                        </a:solidFill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>
                          <a:solidFill>
                            <a:srgbClr val="757575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28,000</a:t>
                      </a:r>
                      <a:endParaRPr>
                        <a:solidFill>
                          <a:srgbClr val="757575"/>
                        </a:solidFill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>
                          <a:solidFill>
                            <a:srgbClr val="757575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28,500</a:t>
                      </a:r>
                      <a:endParaRPr>
                        <a:solidFill>
                          <a:srgbClr val="757575"/>
                        </a:solidFill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4826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>
                          <a:solidFill>
                            <a:srgbClr val="757575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Kitos išlaidos</a:t>
                      </a:r>
                      <a:endParaRPr>
                        <a:solidFill>
                          <a:srgbClr val="757575"/>
                        </a:solidFill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>
                          <a:solidFill>
                            <a:srgbClr val="757575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Apskaita, Teisinės paslaugos, Bankas</a:t>
                      </a:r>
                      <a:endParaRPr>
                        <a:solidFill>
                          <a:srgbClr val="757575"/>
                        </a:solidFill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>
                          <a:solidFill>
                            <a:srgbClr val="757575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6,600</a:t>
                      </a:r>
                      <a:endParaRPr>
                        <a:solidFill>
                          <a:srgbClr val="757575"/>
                        </a:solidFill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>
                          <a:solidFill>
                            <a:srgbClr val="757575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11,300</a:t>
                      </a:r>
                      <a:endParaRPr>
                        <a:solidFill>
                          <a:srgbClr val="757575"/>
                        </a:solidFill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4826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200" u="none">
                          <a:solidFill>
                            <a:srgbClr val="F8FAFC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VISO IŠLAIDŲ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0B98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200" u="none">
                          <a:solidFill>
                            <a:srgbClr val="F8FAFC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202,400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0B98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200" u="none">
                          <a:solidFill>
                            <a:srgbClr val="F8FAFC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227,600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0B98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  <p:sp>
        <p:nvSpPr>
          <p:cNvPr id="153" name="Google Shape;153;p17"/>
          <p:cNvSpPr/>
          <p:nvPr/>
        </p:nvSpPr>
        <p:spPr>
          <a:xfrm>
            <a:off x="581025" y="2862262"/>
            <a:ext cx="2770286" cy="9525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4" name="Google Shape;154;p17"/>
          <p:cNvSpPr/>
          <p:nvPr/>
        </p:nvSpPr>
        <p:spPr>
          <a:xfrm>
            <a:off x="3351311" y="2862262"/>
            <a:ext cx="4323754" cy="9525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5" name="Google Shape;155;p17"/>
          <p:cNvSpPr/>
          <p:nvPr/>
        </p:nvSpPr>
        <p:spPr>
          <a:xfrm>
            <a:off x="7675066" y="2862262"/>
            <a:ext cx="1967805" cy="9525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6" name="Google Shape;156;p17"/>
          <p:cNvSpPr/>
          <p:nvPr/>
        </p:nvSpPr>
        <p:spPr>
          <a:xfrm>
            <a:off x="9642871" y="2862262"/>
            <a:ext cx="1968103" cy="9525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7" name="Google Shape;157;p17"/>
          <p:cNvSpPr/>
          <p:nvPr/>
        </p:nvSpPr>
        <p:spPr>
          <a:xfrm>
            <a:off x="581025" y="3348037"/>
            <a:ext cx="2770286" cy="9525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8" name="Google Shape;158;p17"/>
          <p:cNvSpPr/>
          <p:nvPr/>
        </p:nvSpPr>
        <p:spPr>
          <a:xfrm>
            <a:off x="3351311" y="3348037"/>
            <a:ext cx="4323754" cy="9525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9" name="Google Shape;159;p17"/>
          <p:cNvSpPr/>
          <p:nvPr/>
        </p:nvSpPr>
        <p:spPr>
          <a:xfrm>
            <a:off x="7675066" y="3348037"/>
            <a:ext cx="1967805" cy="9525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0" name="Google Shape;160;p17"/>
          <p:cNvSpPr/>
          <p:nvPr/>
        </p:nvSpPr>
        <p:spPr>
          <a:xfrm>
            <a:off x="9642871" y="3348037"/>
            <a:ext cx="1968103" cy="9525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1" name="Google Shape;161;p17"/>
          <p:cNvSpPr/>
          <p:nvPr/>
        </p:nvSpPr>
        <p:spPr>
          <a:xfrm>
            <a:off x="581025" y="3833812"/>
            <a:ext cx="2770286" cy="9525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2" name="Google Shape;162;p17"/>
          <p:cNvSpPr/>
          <p:nvPr/>
        </p:nvSpPr>
        <p:spPr>
          <a:xfrm>
            <a:off x="3351311" y="3833812"/>
            <a:ext cx="4323754" cy="9525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3" name="Google Shape;163;p17"/>
          <p:cNvSpPr/>
          <p:nvPr/>
        </p:nvSpPr>
        <p:spPr>
          <a:xfrm>
            <a:off x="7675066" y="3833812"/>
            <a:ext cx="1967805" cy="9525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4" name="Google Shape;164;p17"/>
          <p:cNvSpPr/>
          <p:nvPr/>
        </p:nvSpPr>
        <p:spPr>
          <a:xfrm>
            <a:off x="9642871" y="3833812"/>
            <a:ext cx="1968103" cy="9525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5" name="Google Shape;165;p17"/>
          <p:cNvSpPr/>
          <p:nvPr/>
        </p:nvSpPr>
        <p:spPr>
          <a:xfrm>
            <a:off x="581025" y="4319587"/>
            <a:ext cx="2770286" cy="9525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6" name="Google Shape;166;p17"/>
          <p:cNvSpPr/>
          <p:nvPr/>
        </p:nvSpPr>
        <p:spPr>
          <a:xfrm>
            <a:off x="3351311" y="4319587"/>
            <a:ext cx="4323754" cy="9525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7" name="Google Shape;167;p17"/>
          <p:cNvSpPr/>
          <p:nvPr/>
        </p:nvSpPr>
        <p:spPr>
          <a:xfrm>
            <a:off x="7675066" y="4319587"/>
            <a:ext cx="1967805" cy="9525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8" name="Google Shape;168;p17"/>
          <p:cNvSpPr/>
          <p:nvPr/>
        </p:nvSpPr>
        <p:spPr>
          <a:xfrm>
            <a:off x="9642871" y="4319587"/>
            <a:ext cx="1968103" cy="9525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9" name="Google Shape;169;p17"/>
          <p:cNvSpPr/>
          <p:nvPr/>
        </p:nvSpPr>
        <p:spPr>
          <a:xfrm>
            <a:off x="581025" y="4805362"/>
            <a:ext cx="2770286" cy="9525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0" name="Google Shape;170;p17"/>
          <p:cNvSpPr/>
          <p:nvPr/>
        </p:nvSpPr>
        <p:spPr>
          <a:xfrm>
            <a:off x="3351311" y="4805362"/>
            <a:ext cx="4323754" cy="9525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1" name="Google Shape;171;p17"/>
          <p:cNvSpPr/>
          <p:nvPr/>
        </p:nvSpPr>
        <p:spPr>
          <a:xfrm>
            <a:off x="7675066" y="4805362"/>
            <a:ext cx="1967805" cy="9525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2" name="Google Shape;172;p17"/>
          <p:cNvSpPr/>
          <p:nvPr/>
        </p:nvSpPr>
        <p:spPr>
          <a:xfrm>
            <a:off x="9642871" y="4805362"/>
            <a:ext cx="1968103" cy="9525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3" name="Google Shape;173;p17"/>
          <p:cNvSpPr txBox="1"/>
          <p:nvPr/>
        </p:nvSpPr>
        <p:spPr>
          <a:xfrm>
            <a:off x="771525" y="581025"/>
            <a:ext cx="1138142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F8FAFC"/>
                </a:solidFill>
                <a:latin typeface="Urbanist"/>
                <a:ea typeface="Urbanist"/>
                <a:cs typeface="Urbanist"/>
                <a:sym typeface="Urbanist"/>
              </a:rPr>
              <a:t>METINĖS EINAMOSIOS IŠLAIDOS</a:t>
            </a:r>
            <a:endParaRPr/>
          </a:p>
        </p:txBody>
      </p:sp>
      <p:sp>
        <p:nvSpPr>
          <p:cNvPr id="174" name="Google Shape;174;p17"/>
          <p:cNvSpPr/>
          <p:nvPr/>
        </p:nvSpPr>
        <p:spPr>
          <a:xfrm>
            <a:off x="581025" y="581025"/>
            <a:ext cx="57150" cy="4572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F172A"/>
        </a:solidFill>
      </p:bgPr>
    </p:bg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179" name="Google Shape;179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80" name="Google Shape;180;p18"/>
          <p:cNvSpPr txBox="1"/>
          <p:nvPr/>
        </p:nvSpPr>
        <p:spPr>
          <a:xfrm>
            <a:off x="771525" y="771525"/>
            <a:ext cx="499062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F8FAFC"/>
                </a:solidFill>
                <a:latin typeface="Urbanist"/>
                <a:ea typeface="Urbanist"/>
                <a:cs typeface="Urbanist"/>
                <a:sym typeface="Urbanist"/>
              </a:rPr>
              <a:t>MAKROEKONOMIKA</a:t>
            </a:r>
            <a:endParaRPr/>
          </a:p>
        </p:txBody>
      </p:sp>
      <p:sp>
        <p:nvSpPr>
          <p:cNvPr id="181" name="Google Shape;181;p18"/>
          <p:cNvSpPr/>
          <p:nvPr/>
        </p:nvSpPr>
        <p:spPr>
          <a:xfrm>
            <a:off x="581025" y="771525"/>
            <a:ext cx="57150" cy="4572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2" name="Google Shape;182;p18"/>
          <p:cNvSpPr txBox="1"/>
          <p:nvPr/>
        </p:nvSpPr>
        <p:spPr>
          <a:xfrm>
            <a:off x="581025" y="1609725"/>
            <a:ext cx="5190648" cy="3238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100" u="none" cap="none" strike="noStrike">
                <a:solidFill>
                  <a:srgbClr val="10B981"/>
                </a:solidFill>
                <a:latin typeface="Urbanist"/>
                <a:ea typeface="Urbanist"/>
                <a:cs typeface="Urbanist"/>
                <a:sym typeface="Urbanist"/>
              </a:rPr>
              <a:t>Lietuvos BVP potencialas</a:t>
            </a:r>
            <a:endParaRPr/>
          </a:p>
        </p:txBody>
      </p:sp>
      <p:sp>
        <p:nvSpPr>
          <p:cNvPr id="183" name="Google Shape;183;p18"/>
          <p:cNvSpPr txBox="1"/>
          <p:nvPr/>
        </p:nvSpPr>
        <p:spPr>
          <a:xfrm>
            <a:off x="581025" y="2076450"/>
            <a:ext cx="4943475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Lietuvos rinkos rodikliai prognozuoja stabilumą. Nors numatomas nedidelis kritimas, Lietuva gerokai lenkia Europos BVP vidurkį.</a:t>
            </a:r>
            <a:endParaRPr/>
          </a:p>
        </p:txBody>
      </p:sp>
      <p:sp>
        <p:nvSpPr>
          <p:cNvPr id="184" name="Google Shape;184;p18"/>
          <p:cNvSpPr txBox="1"/>
          <p:nvPr/>
        </p:nvSpPr>
        <p:spPr>
          <a:xfrm>
            <a:off x="581025" y="3133725"/>
            <a:ext cx="4943475" cy="609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BVP augimas tiesiogiai koreliuoja su e-komercijos plėtra ir verslo noru investuoti į giliąją rinkos analizę.</a:t>
            </a:r>
            <a:endParaRPr/>
          </a:p>
        </p:txBody>
      </p:sp>
      <p:pic>
        <p:nvPicPr>
          <p:cNvPr id="185" name="Google Shape;185;p18"/>
          <p:cNvPicPr preferRelativeResize="0"/>
          <p:nvPr/>
        </p:nvPicPr>
        <p:blipFill rotWithShape="1">
          <a:blip r:embed="rId4">
            <a:alphaModFix/>
          </a:blip>
          <a:srcRect b="0" l="20823" r="20418" t="16978"/>
          <a:stretch/>
        </p:blipFill>
        <p:spPr>
          <a:xfrm>
            <a:off x="6135950" y="862150"/>
            <a:ext cx="4943475" cy="5309176"/>
          </a:xfrm>
          <a:prstGeom prst="rect">
            <a:avLst/>
          </a:prstGeom>
          <a:noFill/>
          <a:ln>
            <a:noFill/>
          </a:ln>
        </p:spPr>
      </p:pic>
      <p:sp>
        <p:nvSpPr>
          <p:cNvPr id="186" name="Google Shape;186;p18"/>
          <p:cNvSpPr txBox="1"/>
          <p:nvPr/>
        </p:nvSpPr>
        <p:spPr>
          <a:xfrm>
            <a:off x="6135950" y="6265537"/>
            <a:ext cx="4848300" cy="215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11430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Baltijos šalių rinkos palyginimas su Europa</a:t>
            </a:r>
            <a:endParaRPr sz="130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F172A"/>
        </a:solidFill>
      </p:bgPr>
    </p:bg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191" name="Google Shape;191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92" name="Google Shape;192;p19"/>
          <p:cNvSpPr txBox="1"/>
          <p:nvPr/>
        </p:nvSpPr>
        <p:spPr>
          <a:xfrm>
            <a:off x="771525" y="771525"/>
            <a:ext cx="49905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F8FAFC"/>
                </a:solidFill>
                <a:latin typeface="Urbanist"/>
                <a:ea typeface="Urbanist"/>
                <a:cs typeface="Urbanist"/>
                <a:sym typeface="Urbanist"/>
              </a:rPr>
              <a:t>MAKROEKONOMIKA</a:t>
            </a:r>
            <a:endParaRPr/>
          </a:p>
        </p:txBody>
      </p:sp>
      <p:sp>
        <p:nvSpPr>
          <p:cNvPr id="193" name="Google Shape;193;p19"/>
          <p:cNvSpPr/>
          <p:nvPr/>
        </p:nvSpPr>
        <p:spPr>
          <a:xfrm>
            <a:off x="581025" y="771525"/>
            <a:ext cx="57300" cy="4572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4" name="Google Shape;194;p19"/>
          <p:cNvSpPr txBox="1"/>
          <p:nvPr/>
        </p:nvSpPr>
        <p:spPr>
          <a:xfrm>
            <a:off x="581025" y="1609725"/>
            <a:ext cx="5190600" cy="323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100" u="none" cap="none" strike="noStrike">
                <a:solidFill>
                  <a:srgbClr val="10B981"/>
                </a:solidFill>
                <a:latin typeface="Urbanist"/>
                <a:ea typeface="Urbanist"/>
                <a:cs typeface="Urbanist"/>
                <a:sym typeface="Urbanist"/>
              </a:rPr>
              <a:t>Lietuvos BVP potencialas</a:t>
            </a:r>
            <a:endParaRPr/>
          </a:p>
        </p:txBody>
      </p:sp>
      <p:sp>
        <p:nvSpPr>
          <p:cNvPr id="195" name="Google Shape;195;p19"/>
          <p:cNvSpPr txBox="1"/>
          <p:nvPr/>
        </p:nvSpPr>
        <p:spPr>
          <a:xfrm>
            <a:off x="581025" y="2076450"/>
            <a:ext cx="4943400" cy="969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Lietuvos rinkos rodikliai prognozuoja stabilumą. Nors numatomas nedidelis kritimas, Lietuva gerokai lenkia Europos BVP vidurkį.</a:t>
            </a:r>
            <a:endParaRPr/>
          </a:p>
        </p:txBody>
      </p:sp>
      <p:sp>
        <p:nvSpPr>
          <p:cNvPr id="196" name="Google Shape;196;p19"/>
          <p:cNvSpPr txBox="1"/>
          <p:nvPr/>
        </p:nvSpPr>
        <p:spPr>
          <a:xfrm>
            <a:off x="581025" y="3133725"/>
            <a:ext cx="4943400" cy="600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BVP augimas tiesiogiai koreliuoja su e-komercijos plėtra ir verslo noru investuoti į giliąją rinkos analizę.</a:t>
            </a:r>
            <a:endParaRPr/>
          </a:p>
        </p:txBody>
      </p:sp>
      <p:pic>
        <p:nvPicPr>
          <p:cNvPr id="197" name="Google Shape;197;p19"/>
          <p:cNvPicPr preferRelativeResize="0"/>
          <p:nvPr/>
        </p:nvPicPr>
        <p:blipFill rotWithShape="1">
          <a:blip r:embed="rId4">
            <a:alphaModFix/>
          </a:blip>
          <a:srcRect b="0" l="21183" r="20683" t="27039"/>
          <a:stretch/>
        </p:blipFill>
        <p:spPr>
          <a:xfrm>
            <a:off x="5437850" y="1281186"/>
            <a:ext cx="6357574" cy="4295628"/>
          </a:xfrm>
          <a:prstGeom prst="rect">
            <a:avLst/>
          </a:prstGeom>
          <a:noFill/>
          <a:ln>
            <a:noFill/>
          </a:ln>
        </p:spPr>
      </p:pic>
      <p:sp>
        <p:nvSpPr>
          <p:cNvPr id="198" name="Google Shape;198;p19"/>
          <p:cNvSpPr txBox="1"/>
          <p:nvPr/>
        </p:nvSpPr>
        <p:spPr>
          <a:xfrm>
            <a:off x="5524425" y="5717237"/>
            <a:ext cx="4848300" cy="215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11430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Įvairių valstybių rinkos palyginimas su Europa</a:t>
            </a:r>
            <a:endParaRPr sz="130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F172A"/>
        </a:solidFill>
      </p:bgPr>
    </p:bg>
    <p:spTree>
      <p:nvGrpSpPr>
        <p:cNvPr id="202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203" name="Google Shape;203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04" name="Google Shape;204;p20"/>
          <p:cNvSpPr txBox="1"/>
          <p:nvPr/>
        </p:nvSpPr>
        <p:spPr>
          <a:xfrm>
            <a:off x="771525" y="771525"/>
            <a:ext cx="49905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F8FAFC"/>
                </a:solidFill>
                <a:latin typeface="Urbanist"/>
                <a:ea typeface="Urbanist"/>
                <a:cs typeface="Urbanist"/>
                <a:sym typeface="Urbanist"/>
              </a:rPr>
              <a:t>MAKROEKONOMIKA</a:t>
            </a:r>
            <a:endParaRPr/>
          </a:p>
        </p:txBody>
      </p:sp>
      <p:sp>
        <p:nvSpPr>
          <p:cNvPr id="205" name="Google Shape;205;p20"/>
          <p:cNvSpPr/>
          <p:nvPr/>
        </p:nvSpPr>
        <p:spPr>
          <a:xfrm>
            <a:off x="581025" y="771525"/>
            <a:ext cx="57300" cy="4572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6" name="Google Shape;206;p20"/>
          <p:cNvSpPr txBox="1"/>
          <p:nvPr/>
        </p:nvSpPr>
        <p:spPr>
          <a:xfrm>
            <a:off x="581025" y="1609725"/>
            <a:ext cx="5190600" cy="323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100" u="none" cap="none" strike="noStrike">
                <a:solidFill>
                  <a:srgbClr val="10B981"/>
                </a:solidFill>
                <a:latin typeface="Urbanist"/>
                <a:ea typeface="Urbanist"/>
                <a:cs typeface="Urbanist"/>
                <a:sym typeface="Urbanist"/>
              </a:rPr>
              <a:t>Lietuvos BVP potencialas</a:t>
            </a:r>
            <a:endParaRPr/>
          </a:p>
        </p:txBody>
      </p:sp>
      <p:sp>
        <p:nvSpPr>
          <p:cNvPr id="207" name="Google Shape;207;p20"/>
          <p:cNvSpPr txBox="1"/>
          <p:nvPr/>
        </p:nvSpPr>
        <p:spPr>
          <a:xfrm>
            <a:off x="581025" y="2076450"/>
            <a:ext cx="4943400" cy="969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Lietuvos rinkos rodikliai prognozuoja stabilumą. Nors numatomas nedidelis kritimas, Lietuva gerokai lenkia Europos BVP vidurkį.</a:t>
            </a:r>
            <a:endParaRPr/>
          </a:p>
        </p:txBody>
      </p:sp>
      <p:sp>
        <p:nvSpPr>
          <p:cNvPr id="208" name="Google Shape;208;p20"/>
          <p:cNvSpPr txBox="1"/>
          <p:nvPr/>
        </p:nvSpPr>
        <p:spPr>
          <a:xfrm>
            <a:off x="581025" y="3133725"/>
            <a:ext cx="4943400" cy="600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BVP augimas tiesiogiai koreliuoja su e-komercijos plėtra ir verslo noru investuoti į giliąją rinkos analizę.</a:t>
            </a:r>
            <a:endParaRPr/>
          </a:p>
        </p:txBody>
      </p:sp>
      <p:pic>
        <p:nvPicPr>
          <p:cNvPr id="209" name="Google Shape;209;p20"/>
          <p:cNvPicPr preferRelativeResize="0"/>
          <p:nvPr/>
        </p:nvPicPr>
        <p:blipFill rotWithShape="1">
          <a:blip r:embed="rId4">
            <a:alphaModFix/>
          </a:blip>
          <a:srcRect b="10724" l="17856" r="25973" t="27317"/>
          <a:stretch/>
        </p:blipFill>
        <p:spPr>
          <a:xfrm>
            <a:off x="6062825" y="613125"/>
            <a:ext cx="5538250" cy="5641501"/>
          </a:xfrm>
          <a:prstGeom prst="rect">
            <a:avLst/>
          </a:prstGeom>
          <a:noFill/>
          <a:ln>
            <a:noFill/>
          </a:ln>
        </p:spPr>
      </p:pic>
      <p:sp>
        <p:nvSpPr>
          <p:cNvPr id="210" name="Google Shape;210;p20"/>
          <p:cNvSpPr txBox="1"/>
          <p:nvPr/>
        </p:nvSpPr>
        <p:spPr>
          <a:xfrm>
            <a:off x="6122050" y="6337687"/>
            <a:ext cx="4848300" cy="215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11430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Nedarbo lygis</a:t>
            </a:r>
            <a:endParaRPr sz="13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F172A"/>
        </a:solidFill>
      </p:bgPr>
    </p:bg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215" name="Google Shape;215;p2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16" name="Google Shape;216;p21"/>
          <p:cNvSpPr txBox="1"/>
          <p:nvPr/>
        </p:nvSpPr>
        <p:spPr>
          <a:xfrm>
            <a:off x="581025" y="2100262"/>
            <a:ext cx="11029950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Vartotojų kainų pokyčiai (VKI) 2024-2025 m. laikotarpiu:</a:t>
            </a:r>
            <a:endParaRPr/>
          </a:p>
        </p:txBody>
      </p:sp>
      <p:graphicFrame>
        <p:nvGraphicFramePr>
          <p:cNvPr id="217" name="Google Shape;217;p21"/>
          <p:cNvGraphicFramePr/>
          <p:nvPr/>
        </p:nvGraphicFramePr>
        <p:xfrm>
          <a:off x="581025" y="254793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{B6F3FDDA-37BE-4496-AAE1-BF1B384DF4A6}</a:tableStyleId>
              </a:tblPr>
              <a:tblGrid>
                <a:gridCol w="3993800"/>
                <a:gridCol w="2345225"/>
                <a:gridCol w="2345225"/>
                <a:gridCol w="2345675"/>
              </a:tblGrid>
              <a:tr h="481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200" u="none">
                          <a:solidFill>
                            <a:srgbClr val="0F172A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Paslaugų grupė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0B98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200" u="none">
                          <a:solidFill>
                            <a:srgbClr val="0F172A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2025 M11 (%)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0B98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200" u="none">
                          <a:solidFill>
                            <a:srgbClr val="0F172A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2025 M06 (%)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0B98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200" u="none">
                          <a:solidFill>
                            <a:srgbClr val="0F172A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2024 M12 (%)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0B981"/>
                    </a:solidFill>
                  </a:tcPr>
                </a:tc>
              </a:tr>
              <a:tr h="481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>
                          <a:solidFill>
                            <a:srgbClr val="757575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Būstas, vanduo, elektra</a:t>
                      </a:r>
                      <a:endParaRPr>
                        <a:solidFill>
                          <a:srgbClr val="757575"/>
                        </a:solidFill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>
                          <a:solidFill>
                            <a:srgbClr val="757575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1.4</a:t>
                      </a:r>
                      <a:endParaRPr>
                        <a:solidFill>
                          <a:srgbClr val="757575"/>
                        </a:solidFill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>
                          <a:solidFill>
                            <a:srgbClr val="757575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1.6</a:t>
                      </a:r>
                      <a:endParaRPr>
                        <a:solidFill>
                          <a:srgbClr val="757575"/>
                        </a:solidFill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>
                          <a:solidFill>
                            <a:srgbClr val="757575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-3.6</a:t>
                      </a:r>
                      <a:endParaRPr>
                        <a:solidFill>
                          <a:srgbClr val="757575"/>
                        </a:solidFill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481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>
                          <a:solidFill>
                            <a:srgbClr val="757575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Būsto nuomos mokesčiai</a:t>
                      </a:r>
                      <a:endParaRPr>
                        <a:solidFill>
                          <a:srgbClr val="757575"/>
                        </a:solidFill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>
                          <a:solidFill>
                            <a:srgbClr val="757575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9.5</a:t>
                      </a:r>
                      <a:endParaRPr>
                        <a:solidFill>
                          <a:srgbClr val="757575"/>
                        </a:solidFill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>
                          <a:solidFill>
                            <a:srgbClr val="757575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4.7</a:t>
                      </a:r>
                      <a:endParaRPr>
                        <a:solidFill>
                          <a:srgbClr val="757575"/>
                        </a:solidFill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>
                          <a:solidFill>
                            <a:srgbClr val="757575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-0.4</a:t>
                      </a:r>
                      <a:endParaRPr>
                        <a:solidFill>
                          <a:srgbClr val="757575"/>
                        </a:solidFill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481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>
                          <a:solidFill>
                            <a:srgbClr val="757575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Būsto priežiūra ir remontas</a:t>
                      </a:r>
                      <a:endParaRPr>
                        <a:solidFill>
                          <a:srgbClr val="757575"/>
                        </a:solidFill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>
                          <a:solidFill>
                            <a:srgbClr val="757575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4.3</a:t>
                      </a:r>
                      <a:endParaRPr>
                        <a:solidFill>
                          <a:srgbClr val="757575"/>
                        </a:solidFill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>
                          <a:solidFill>
                            <a:srgbClr val="757575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4.1</a:t>
                      </a:r>
                      <a:endParaRPr>
                        <a:solidFill>
                          <a:srgbClr val="757575"/>
                        </a:solidFill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>
                          <a:solidFill>
                            <a:srgbClr val="757575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1.1</a:t>
                      </a:r>
                      <a:endParaRPr>
                        <a:solidFill>
                          <a:srgbClr val="757575"/>
                        </a:solidFill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481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>
                          <a:solidFill>
                            <a:srgbClr val="757575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Vandentiekis ir kt. paslaugos</a:t>
                      </a:r>
                      <a:endParaRPr>
                        <a:solidFill>
                          <a:srgbClr val="757575"/>
                        </a:solidFill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>
                          <a:solidFill>
                            <a:srgbClr val="757575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6.9</a:t>
                      </a:r>
                      <a:endParaRPr>
                        <a:solidFill>
                          <a:srgbClr val="757575"/>
                        </a:solidFill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>
                          <a:solidFill>
                            <a:srgbClr val="757575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5.8</a:t>
                      </a:r>
                      <a:endParaRPr>
                        <a:solidFill>
                          <a:srgbClr val="757575"/>
                        </a:solidFill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>
                          <a:solidFill>
                            <a:srgbClr val="757575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2.3</a:t>
                      </a:r>
                      <a:endParaRPr>
                        <a:solidFill>
                          <a:srgbClr val="757575"/>
                        </a:solidFill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  <p:sp>
        <p:nvSpPr>
          <p:cNvPr id="218" name="Google Shape;218;p21"/>
          <p:cNvSpPr txBox="1"/>
          <p:nvPr/>
        </p:nvSpPr>
        <p:spPr>
          <a:xfrm>
            <a:off x="581025" y="5148262"/>
            <a:ext cx="11029950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1500" u="none" cap="none" strike="noStrike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Išvada: Augančios nuomos ir paslaugų kainos skatina verslą veikti operatyviai, siekiant amortizuoti kaštus per didesnį efektyvumą.</a:t>
            </a:r>
            <a:endParaRPr/>
          </a:p>
        </p:txBody>
      </p:sp>
      <p:sp>
        <p:nvSpPr>
          <p:cNvPr id="219" name="Google Shape;219;p21"/>
          <p:cNvSpPr/>
          <p:nvPr/>
        </p:nvSpPr>
        <p:spPr>
          <a:xfrm>
            <a:off x="581025" y="3019425"/>
            <a:ext cx="3993802" cy="9525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0" name="Google Shape;220;p21"/>
          <p:cNvSpPr/>
          <p:nvPr/>
        </p:nvSpPr>
        <p:spPr>
          <a:xfrm>
            <a:off x="4574827" y="3019425"/>
            <a:ext cx="2345233" cy="9525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1" name="Google Shape;221;p21"/>
          <p:cNvSpPr/>
          <p:nvPr/>
        </p:nvSpPr>
        <p:spPr>
          <a:xfrm>
            <a:off x="6920061" y="3019425"/>
            <a:ext cx="2345233" cy="9525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2" name="Google Shape;222;p21"/>
          <p:cNvSpPr/>
          <p:nvPr/>
        </p:nvSpPr>
        <p:spPr>
          <a:xfrm>
            <a:off x="9265294" y="3019425"/>
            <a:ext cx="2345680" cy="9525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3" name="Google Shape;223;p21"/>
          <p:cNvSpPr/>
          <p:nvPr/>
        </p:nvSpPr>
        <p:spPr>
          <a:xfrm>
            <a:off x="581025" y="3505200"/>
            <a:ext cx="3993802" cy="9525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4" name="Google Shape;224;p21"/>
          <p:cNvSpPr/>
          <p:nvPr/>
        </p:nvSpPr>
        <p:spPr>
          <a:xfrm>
            <a:off x="4574827" y="3505200"/>
            <a:ext cx="2345233" cy="9525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5" name="Google Shape;225;p21"/>
          <p:cNvSpPr/>
          <p:nvPr/>
        </p:nvSpPr>
        <p:spPr>
          <a:xfrm>
            <a:off x="6920061" y="3505200"/>
            <a:ext cx="2345233" cy="9525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6" name="Google Shape;226;p21"/>
          <p:cNvSpPr/>
          <p:nvPr/>
        </p:nvSpPr>
        <p:spPr>
          <a:xfrm>
            <a:off x="9265294" y="3505200"/>
            <a:ext cx="2345680" cy="9525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7" name="Google Shape;227;p21"/>
          <p:cNvSpPr/>
          <p:nvPr/>
        </p:nvSpPr>
        <p:spPr>
          <a:xfrm>
            <a:off x="581025" y="3990975"/>
            <a:ext cx="3993802" cy="9525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8" name="Google Shape;228;p21"/>
          <p:cNvSpPr/>
          <p:nvPr/>
        </p:nvSpPr>
        <p:spPr>
          <a:xfrm>
            <a:off x="4574827" y="3990975"/>
            <a:ext cx="2345233" cy="9525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9" name="Google Shape;229;p21"/>
          <p:cNvSpPr/>
          <p:nvPr/>
        </p:nvSpPr>
        <p:spPr>
          <a:xfrm>
            <a:off x="6920061" y="3990975"/>
            <a:ext cx="2345233" cy="9525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0" name="Google Shape;230;p21"/>
          <p:cNvSpPr/>
          <p:nvPr/>
        </p:nvSpPr>
        <p:spPr>
          <a:xfrm>
            <a:off x="9265294" y="3990975"/>
            <a:ext cx="2345680" cy="9525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1" name="Google Shape;231;p21"/>
          <p:cNvSpPr/>
          <p:nvPr/>
        </p:nvSpPr>
        <p:spPr>
          <a:xfrm>
            <a:off x="581025" y="4476750"/>
            <a:ext cx="3993802" cy="9525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2" name="Google Shape;232;p21"/>
          <p:cNvSpPr/>
          <p:nvPr/>
        </p:nvSpPr>
        <p:spPr>
          <a:xfrm>
            <a:off x="4574827" y="4476750"/>
            <a:ext cx="2345233" cy="9525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3" name="Google Shape;233;p21"/>
          <p:cNvSpPr/>
          <p:nvPr/>
        </p:nvSpPr>
        <p:spPr>
          <a:xfrm>
            <a:off x="6920061" y="4476750"/>
            <a:ext cx="2345233" cy="9525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4" name="Google Shape;234;p21"/>
          <p:cNvSpPr/>
          <p:nvPr/>
        </p:nvSpPr>
        <p:spPr>
          <a:xfrm>
            <a:off x="9265294" y="4476750"/>
            <a:ext cx="2345680" cy="9525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5" name="Google Shape;235;p21"/>
          <p:cNvSpPr txBox="1"/>
          <p:nvPr/>
        </p:nvSpPr>
        <p:spPr>
          <a:xfrm>
            <a:off x="771525" y="581025"/>
            <a:ext cx="1138142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F8FAFC"/>
                </a:solidFill>
                <a:latin typeface="Urbanist"/>
                <a:ea typeface="Urbanist"/>
                <a:cs typeface="Urbanist"/>
                <a:sym typeface="Urbanist"/>
              </a:rPr>
              <a:t>INFLIACIJOS ĮTAKA VERSLUI</a:t>
            </a:r>
            <a:endParaRPr/>
          </a:p>
        </p:txBody>
      </p:sp>
      <p:sp>
        <p:nvSpPr>
          <p:cNvPr id="236" name="Google Shape;236;p21"/>
          <p:cNvSpPr/>
          <p:nvPr/>
        </p:nvSpPr>
        <p:spPr>
          <a:xfrm>
            <a:off x="581025" y="581025"/>
            <a:ext cx="57150" cy="4572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F172A"/>
        </a:solidFill>
      </p:bgPr>
    </p:bg>
    <p:spTree>
      <p:nvGrpSpPr>
        <p:cNvPr id="240" name="Shape 2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241" name="Google Shape;241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42" name="Google Shape;242;p22"/>
          <p:cNvSpPr txBox="1"/>
          <p:nvPr/>
        </p:nvSpPr>
        <p:spPr>
          <a:xfrm>
            <a:off x="529950" y="5434003"/>
            <a:ext cx="11132100" cy="931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just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500">
                <a:solidFill>
                  <a:srgbClr val="F8FAFC"/>
                </a:solidFill>
              </a:rPr>
              <a:t>Ši lentelė parodo proporcingą produkcijos pokytį, kurios Europos valstybės labiausiai suinteresuotos į gamybą. Nors Danija ir San Marinas nėra santykinai didel4s valstybės, bet jos išsiskiria sparčiu industrijos augimu. </a:t>
            </a:r>
            <a:endParaRPr sz="1500">
              <a:solidFill>
                <a:srgbClr val="F8FAFC"/>
              </a:solidFill>
            </a:endParaRPr>
          </a:p>
          <a:p>
            <a:pPr indent="0" lvl="0" marL="0" marR="0" rtl="0" algn="ctr">
              <a:lnSpc>
                <a:spcPct val="16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rgbClr val="F8FAFC"/>
              </a:solidFill>
              <a:latin typeface="Lato"/>
              <a:ea typeface="Lato"/>
              <a:cs typeface="Lato"/>
              <a:sym typeface="Lato"/>
            </a:endParaRPr>
          </a:p>
        </p:txBody>
      </p:sp>
      <p:sp>
        <p:nvSpPr>
          <p:cNvPr id="243" name="Google Shape;243;p22"/>
          <p:cNvSpPr txBox="1"/>
          <p:nvPr/>
        </p:nvSpPr>
        <p:spPr>
          <a:xfrm>
            <a:off x="771525" y="581025"/>
            <a:ext cx="1138142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F8FAFC"/>
                </a:solidFill>
                <a:latin typeface="Urbanist"/>
                <a:ea typeface="Urbanist"/>
                <a:cs typeface="Urbanist"/>
                <a:sym typeface="Urbanist"/>
              </a:rPr>
              <a:t>INDUSTRIJOS AUGIMAS 2024 M.</a:t>
            </a:r>
            <a:endParaRPr/>
          </a:p>
        </p:txBody>
      </p:sp>
      <p:sp>
        <p:nvSpPr>
          <p:cNvPr id="244" name="Google Shape;244;p22"/>
          <p:cNvSpPr/>
          <p:nvPr/>
        </p:nvSpPr>
        <p:spPr>
          <a:xfrm>
            <a:off x="581025" y="581025"/>
            <a:ext cx="57150" cy="4572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45" name="Google Shape;245;p22"/>
          <p:cNvPicPr preferRelativeResize="0"/>
          <p:nvPr/>
        </p:nvPicPr>
        <p:blipFill rotWithShape="1">
          <a:blip r:embed="rId4">
            <a:alphaModFix/>
          </a:blip>
          <a:srcRect b="0" l="0" r="3250" t="0"/>
          <a:stretch/>
        </p:blipFill>
        <p:spPr>
          <a:xfrm>
            <a:off x="6857375" y="1564475"/>
            <a:ext cx="4414100" cy="33432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F172A"/>
        </a:solidFill>
      </p:bgPr>
    </p:bg>
    <p:spTree>
      <p:nvGrpSpPr>
        <p:cNvPr id="249" name="Shape 2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250" name="Google Shape;250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-12220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51" name="Google Shape;251;p23"/>
          <p:cNvSpPr txBox="1"/>
          <p:nvPr/>
        </p:nvSpPr>
        <p:spPr>
          <a:xfrm>
            <a:off x="847725" y="2240012"/>
            <a:ext cx="114300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•</a:t>
            </a:r>
            <a:endParaRPr/>
          </a:p>
        </p:txBody>
      </p:sp>
      <p:sp>
        <p:nvSpPr>
          <p:cNvPr id="252" name="Google Shape;252;p23"/>
          <p:cNvSpPr txBox="1"/>
          <p:nvPr/>
        </p:nvSpPr>
        <p:spPr>
          <a:xfrm>
            <a:off x="6381750" y="5096837"/>
            <a:ext cx="4848300" cy="215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11430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EUR/ USD valiutų kursas</a:t>
            </a:r>
            <a:endParaRPr sz="1300"/>
          </a:p>
        </p:txBody>
      </p:sp>
      <p:sp>
        <p:nvSpPr>
          <p:cNvPr id="253" name="Google Shape;253;p23"/>
          <p:cNvSpPr txBox="1"/>
          <p:nvPr/>
        </p:nvSpPr>
        <p:spPr>
          <a:xfrm>
            <a:off x="847725" y="2544812"/>
            <a:ext cx="114300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•</a:t>
            </a:r>
            <a:endParaRPr/>
          </a:p>
        </p:txBody>
      </p:sp>
      <p:sp>
        <p:nvSpPr>
          <p:cNvPr id="254" name="Google Shape;254;p23"/>
          <p:cNvSpPr txBox="1"/>
          <p:nvPr/>
        </p:nvSpPr>
        <p:spPr>
          <a:xfrm>
            <a:off x="962025" y="2544812"/>
            <a:ext cx="4848225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11430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USD:</a:t>
            </a:r>
            <a:r>
              <a:rPr b="0" i="0" lang="en-US" sz="1500" u="none" cap="none" strike="noStrike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 Sąnaudų valiuta (Google Ads, AWS, API prieigos).</a:t>
            </a:r>
            <a:endParaRPr/>
          </a:p>
        </p:txBody>
      </p:sp>
      <p:sp>
        <p:nvSpPr>
          <p:cNvPr id="255" name="Google Shape;255;p23"/>
          <p:cNvSpPr txBox="1"/>
          <p:nvPr/>
        </p:nvSpPr>
        <p:spPr>
          <a:xfrm>
            <a:off x="847725" y="2849612"/>
            <a:ext cx="114300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•</a:t>
            </a:r>
            <a:endParaRPr/>
          </a:p>
        </p:txBody>
      </p:sp>
      <p:sp>
        <p:nvSpPr>
          <p:cNvPr id="256" name="Google Shape;256;p23"/>
          <p:cNvSpPr txBox="1"/>
          <p:nvPr/>
        </p:nvSpPr>
        <p:spPr>
          <a:xfrm>
            <a:off x="962025" y="2849612"/>
            <a:ext cx="4848225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11430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GBP:</a:t>
            </a:r>
            <a:r>
              <a:rPr b="0" i="0" lang="en-US" sz="1500" u="none" cap="none" strike="noStrike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 Tikslinė klientų valiuta (JK el. komercijos rinka).</a:t>
            </a:r>
            <a:endParaRPr/>
          </a:p>
        </p:txBody>
      </p:sp>
      <p:sp>
        <p:nvSpPr>
          <p:cNvPr id="257" name="Google Shape;257;p23"/>
          <p:cNvSpPr txBox="1"/>
          <p:nvPr/>
        </p:nvSpPr>
        <p:spPr>
          <a:xfrm>
            <a:off x="847725" y="3154412"/>
            <a:ext cx="114300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•</a:t>
            </a:r>
            <a:endParaRPr/>
          </a:p>
        </p:txBody>
      </p:sp>
      <p:sp>
        <p:nvSpPr>
          <p:cNvPr id="258" name="Google Shape;258;p23"/>
          <p:cNvSpPr txBox="1"/>
          <p:nvPr/>
        </p:nvSpPr>
        <p:spPr>
          <a:xfrm>
            <a:off x="962025" y="3154412"/>
            <a:ext cx="4848225" cy="609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11430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Strategija:</a:t>
            </a:r>
            <a:r>
              <a:rPr b="0" i="0" lang="en-US" sz="1500" u="none" cap="none" strike="noStrike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 "Limit orders" naudojimas stambiems mokėjimams ir aktyvus ECB bei FED politikos stebėjimas.</a:t>
            </a:r>
            <a:endParaRPr/>
          </a:p>
        </p:txBody>
      </p:sp>
      <p:sp>
        <p:nvSpPr>
          <p:cNvPr id="259" name="Google Shape;259;p23"/>
          <p:cNvSpPr txBox="1"/>
          <p:nvPr/>
        </p:nvSpPr>
        <p:spPr>
          <a:xfrm>
            <a:off x="771525" y="581025"/>
            <a:ext cx="1138142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F8FAFC"/>
                </a:solidFill>
                <a:latin typeface="Urbanist"/>
                <a:ea typeface="Urbanist"/>
                <a:cs typeface="Urbanist"/>
                <a:sym typeface="Urbanist"/>
              </a:rPr>
              <a:t>VALIUTŲ RIZIKOS VALDYMAS</a:t>
            </a:r>
            <a:endParaRPr/>
          </a:p>
        </p:txBody>
      </p:sp>
      <p:sp>
        <p:nvSpPr>
          <p:cNvPr id="260" name="Google Shape;260;p23"/>
          <p:cNvSpPr/>
          <p:nvPr/>
        </p:nvSpPr>
        <p:spPr>
          <a:xfrm>
            <a:off x="581025" y="581025"/>
            <a:ext cx="57150" cy="4572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61" name="Google Shape;261;p2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381750" y="1821400"/>
            <a:ext cx="4967400" cy="3215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F172A"/>
        </a:solidFill>
      </p:bgPr>
    </p:bg>
    <p:spTree>
      <p:nvGrpSpPr>
        <p:cNvPr id="265" name="Shape 2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266" name="Google Shape;26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67" name="Google Shape;267;p24"/>
          <p:cNvSpPr txBox="1"/>
          <p:nvPr/>
        </p:nvSpPr>
        <p:spPr>
          <a:xfrm>
            <a:off x="847725" y="2240012"/>
            <a:ext cx="114300" cy="231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•</a:t>
            </a:r>
            <a:endParaRPr/>
          </a:p>
        </p:txBody>
      </p:sp>
      <p:sp>
        <p:nvSpPr>
          <p:cNvPr id="268" name="Google Shape;268;p24"/>
          <p:cNvSpPr txBox="1"/>
          <p:nvPr/>
        </p:nvSpPr>
        <p:spPr>
          <a:xfrm>
            <a:off x="962025" y="2240012"/>
            <a:ext cx="4848300" cy="231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11430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EUR:</a:t>
            </a:r>
            <a:r>
              <a:rPr b="0" i="0" lang="en-US" sz="1500" u="none" cap="none" strike="noStrike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 Pagrindinė operacinė valiuta (nuoma, atlyginimai).</a:t>
            </a:r>
            <a:endParaRPr/>
          </a:p>
        </p:txBody>
      </p:sp>
      <p:sp>
        <p:nvSpPr>
          <p:cNvPr id="269" name="Google Shape;269;p24"/>
          <p:cNvSpPr txBox="1"/>
          <p:nvPr/>
        </p:nvSpPr>
        <p:spPr>
          <a:xfrm>
            <a:off x="847725" y="2544812"/>
            <a:ext cx="114300" cy="231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•</a:t>
            </a:r>
            <a:endParaRPr/>
          </a:p>
        </p:txBody>
      </p:sp>
      <p:sp>
        <p:nvSpPr>
          <p:cNvPr id="270" name="Google Shape;270;p24"/>
          <p:cNvSpPr txBox="1"/>
          <p:nvPr/>
        </p:nvSpPr>
        <p:spPr>
          <a:xfrm>
            <a:off x="962025" y="2544812"/>
            <a:ext cx="4848300" cy="231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11430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USD:</a:t>
            </a:r>
            <a:r>
              <a:rPr b="0" i="0" lang="en-US" sz="1500" u="none" cap="none" strike="noStrike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 Sąnaudų valiuta (Google Ads, AWS, API prieigos).</a:t>
            </a:r>
            <a:endParaRPr/>
          </a:p>
        </p:txBody>
      </p:sp>
      <p:sp>
        <p:nvSpPr>
          <p:cNvPr id="271" name="Google Shape;271;p24"/>
          <p:cNvSpPr txBox="1"/>
          <p:nvPr/>
        </p:nvSpPr>
        <p:spPr>
          <a:xfrm>
            <a:off x="847725" y="2849612"/>
            <a:ext cx="114300" cy="231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•</a:t>
            </a:r>
            <a:endParaRPr/>
          </a:p>
        </p:txBody>
      </p:sp>
      <p:sp>
        <p:nvSpPr>
          <p:cNvPr id="272" name="Google Shape;272;p24"/>
          <p:cNvSpPr txBox="1"/>
          <p:nvPr/>
        </p:nvSpPr>
        <p:spPr>
          <a:xfrm>
            <a:off x="962025" y="2849612"/>
            <a:ext cx="4848300" cy="231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11430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GBP:</a:t>
            </a:r>
            <a:r>
              <a:rPr b="0" i="0" lang="en-US" sz="1500" u="none" cap="none" strike="noStrike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 Tikslinė klientų valiuta (JK el. komercijos rinka).</a:t>
            </a:r>
            <a:endParaRPr/>
          </a:p>
        </p:txBody>
      </p:sp>
      <p:sp>
        <p:nvSpPr>
          <p:cNvPr id="273" name="Google Shape;273;p24"/>
          <p:cNvSpPr txBox="1"/>
          <p:nvPr/>
        </p:nvSpPr>
        <p:spPr>
          <a:xfrm>
            <a:off x="847725" y="3154412"/>
            <a:ext cx="114300" cy="231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•</a:t>
            </a:r>
            <a:endParaRPr/>
          </a:p>
        </p:txBody>
      </p:sp>
      <p:sp>
        <p:nvSpPr>
          <p:cNvPr id="274" name="Google Shape;274;p24"/>
          <p:cNvSpPr txBox="1"/>
          <p:nvPr/>
        </p:nvSpPr>
        <p:spPr>
          <a:xfrm>
            <a:off x="962025" y="3154412"/>
            <a:ext cx="4848300" cy="969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11430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Strategija:</a:t>
            </a:r>
            <a:r>
              <a:rPr b="0" i="0" lang="en-US" sz="1500" u="none" cap="none" strike="noStrike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 "Limit orders" naudojimas stambiems mokėjimams ir aktyvus ECB bei FED politikos stebėjimas.</a:t>
            </a:r>
            <a:endParaRPr/>
          </a:p>
        </p:txBody>
      </p:sp>
      <p:sp>
        <p:nvSpPr>
          <p:cNvPr id="275" name="Google Shape;275;p24"/>
          <p:cNvSpPr txBox="1"/>
          <p:nvPr/>
        </p:nvSpPr>
        <p:spPr>
          <a:xfrm>
            <a:off x="771525" y="581025"/>
            <a:ext cx="113814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F8FAFC"/>
                </a:solidFill>
                <a:latin typeface="Urbanist"/>
                <a:ea typeface="Urbanist"/>
                <a:cs typeface="Urbanist"/>
                <a:sym typeface="Urbanist"/>
              </a:rPr>
              <a:t>VALIUTŲ RIZIKOS VALDYMAS</a:t>
            </a:r>
            <a:endParaRPr/>
          </a:p>
        </p:txBody>
      </p:sp>
      <p:sp>
        <p:nvSpPr>
          <p:cNvPr id="276" name="Google Shape;276;p24"/>
          <p:cNvSpPr/>
          <p:nvPr/>
        </p:nvSpPr>
        <p:spPr>
          <a:xfrm>
            <a:off x="581025" y="581025"/>
            <a:ext cx="57300" cy="4572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77" name="Google Shape;277;p24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435525" y="1748788"/>
            <a:ext cx="5191749" cy="3360425"/>
          </a:xfrm>
          <a:prstGeom prst="rect">
            <a:avLst/>
          </a:prstGeom>
          <a:noFill/>
          <a:ln>
            <a:noFill/>
          </a:ln>
        </p:spPr>
      </p:pic>
      <p:sp>
        <p:nvSpPr>
          <p:cNvPr id="278" name="Google Shape;278;p24"/>
          <p:cNvSpPr txBox="1"/>
          <p:nvPr/>
        </p:nvSpPr>
        <p:spPr>
          <a:xfrm>
            <a:off x="6381750" y="5096837"/>
            <a:ext cx="4848300" cy="215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11430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GBR/ EUR valiutų kursas</a:t>
            </a:r>
            <a:endParaRPr sz="130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F172A"/>
        </a:solidFill>
      </p:bgPr>
    </p:bg>
    <p:spTree>
      <p:nvGrpSpPr>
        <p:cNvPr id="282" name="Shape 2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283" name="Google Shape;283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84" name="Google Shape;284;p25"/>
          <p:cNvSpPr txBox="1"/>
          <p:nvPr/>
        </p:nvSpPr>
        <p:spPr>
          <a:xfrm>
            <a:off x="847725" y="2240012"/>
            <a:ext cx="114300" cy="231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•</a:t>
            </a:r>
            <a:endParaRPr/>
          </a:p>
        </p:txBody>
      </p:sp>
      <p:sp>
        <p:nvSpPr>
          <p:cNvPr id="285" name="Google Shape;285;p25"/>
          <p:cNvSpPr txBox="1"/>
          <p:nvPr/>
        </p:nvSpPr>
        <p:spPr>
          <a:xfrm>
            <a:off x="962025" y="2240012"/>
            <a:ext cx="4848300" cy="231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11430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EUR:</a:t>
            </a:r>
            <a:r>
              <a:rPr b="0" i="0" lang="en-US" sz="1500" u="none" cap="none" strike="noStrike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 Pagrindinė operacinė valiuta (nuoma, atlyginimai).</a:t>
            </a:r>
            <a:endParaRPr/>
          </a:p>
        </p:txBody>
      </p:sp>
      <p:sp>
        <p:nvSpPr>
          <p:cNvPr id="286" name="Google Shape;286;p25"/>
          <p:cNvSpPr txBox="1"/>
          <p:nvPr/>
        </p:nvSpPr>
        <p:spPr>
          <a:xfrm>
            <a:off x="847725" y="2544812"/>
            <a:ext cx="114300" cy="231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•</a:t>
            </a:r>
            <a:endParaRPr/>
          </a:p>
        </p:txBody>
      </p:sp>
      <p:sp>
        <p:nvSpPr>
          <p:cNvPr id="287" name="Google Shape;287;p25"/>
          <p:cNvSpPr txBox="1"/>
          <p:nvPr/>
        </p:nvSpPr>
        <p:spPr>
          <a:xfrm>
            <a:off x="962025" y="2544812"/>
            <a:ext cx="4848300" cy="231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11430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USD:</a:t>
            </a:r>
            <a:r>
              <a:rPr b="0" i="0" lang="en-US" sz="1500" u="none" cap="none" strike="noStrike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 Sąnaudų valiuta (Google Ads, AWS, API prieigos).</a:t>
            </a:r>
            <a:endParaRPr/>
          </a:p>
        </p:txBody>
      </p:sp>
      <p:sp>
        <p:nvSpPr>
          <p:cNvPr id="288" name="Google Shape;288;p25"/>
          <p:cNvSpPr txBox="1"/>
          <p:nvPr/>
        </p:nvSpPr>
        <p:spPr>
          <a:xfrm>
            <a:off x="847725" y="2849612"/>
            <a:ext cx="114300" cy="231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•</a:t>
            </a:r>
            <a:endParaRPr/>
          </a:p>
        </p:txBody>
      </p:sp>
      <p:sp>
        <p:nvSpPr>
          <p:cNvPr id="289" name="Google Shape;289;p25"/>
          <p:cNvSpPr txBox="1"/>
          <p:nvPr/>
        </p:nvSpPr>
        <p:spPr>
          <a:xfrm>
            <a:off x="962025" y="2849612"/>
            <a:ext cx="4848300" cy="231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11430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GBP:</a:t>
            </a:r>
            <a:r>
              <a:rPr b="0" i="0" lang="en-US" sz="1500" u="none" cap="none" strike="noStrike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 Tikslinė klientų valiuta (JK el. komercijos rinka).</a:t>
            </a:r>
            <a:endParaRPr/>
          </a:p>
        </p:txBody>
      </p:sp>
      <p:sp>
        <p:nvSpPr>
          <p:cNvPr id="290" name="Google Shape;290;p25"/>
          <p:cNvSpPr txBox="1"/>
          <p:nvPr/>
        </p:nvSpPr>
        <p:spPr>
          <a:xfrm>
            <a:off x="847725" y="3154412"/>
            <a:ext cx="114300" cy="231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•</a:t>
            </a:r>
            <a:endParaRPr/>
          </a:p>
        </p:txBody>
      </p:sp>
      <p:sp>
        <p:nvSpPr>
          <p:cNvPr id="291" name="Google Shape;291;p25"/>
          <p:cNvSpPr txBox="1"/>
          <p:nvPr/>
        </p:nvSpPr>
        <p:spPr>
          <a:xfrm>
            <a:off x="962025" y="3154412"/>
            <a:ext cx="4848300" cy="969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11430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Strategija:</a:t>
            </a:r>
            <a:r>
              <a:rPr b="0" i="0" lang="en-US" sz="1500" u="none" cap="none" strike="noStrike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 "Limit orders" naudojimas stambiems mokėjimams ir aktyvus ECB bei FED politikos stebėjimas.</a:t>
            </a:r>
            <a:endParaRPr/>
          </a:p>
        </p:txBody>
      </p:sp>
      <p:sp>
        <p:nvSpPr>
          <p:cNvPr id="292" name="Google Shape;292;p25"/>
          <p:cNvSpPr txBox="1"/>
          <p:nvPr/>
        </p:nvSpPr>
        <p:spPr>
          <a:xfrm>
            <a:off x="771525" y="581025"/>
            <a:ext cx="113814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F8FAFC"/>
                </a:solidFill>
                <a:latin typeface="Urbanist"/>
                <a:ea typeface="Urbanist"/>
                <a:cs typeface="Urbanist"/>
                <a:sym typeface="Urbanist"/>
              </a:rPr>
              <a:t>VALIUTŲ RIZIKOS VALDYMAS</a:t>
            </a:r>
            <a:endParaRPr/>
          </a:p>
        </p:txBody>
      </p:sp>
      <p:sp>
        <p:nvSpPr>
          <p:cNvPr id="293" name="Google Shape;293;p25"/>
          <p:cNvSpPr/>
          <p:nvPr/>
        </p:nvSpPr>
        <p:spPr>
          <a:xfrm>
            <a:off x="581025" y="581025"/>
            <a:ext cx="57300" cy="4572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94" name="Google Shape;294;p2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220525" y="1600300"/>
            <a:ext cx="5650600" cy="3657400"/>
          </a:xfrm>
          <a:prstGeom prst="rect">
            <a:avLst/>
          </a:prstGeom>
          <a:noFill/>
          <a:ln>
            <a:noFill/>
          </a:ln>
        </p:spPr>
      </p:pic>
      <p:sp>
        <p:nvSpPr>
          <p:cNvPr id="295" name="Google Shape;295;p25"/>
          <p:cNvSpPr txBox="1"/>
          <p:nvPr/>
        </p:nvSpPr>
        <p:spPr>
          <a:xfrm>
            <a:off x="6220525" y="5379087"/>
            <a:ext cx="4848300" cy="231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11430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500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EUR/ PLN valiutų kursas</a:t>
            </a:r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F172A"/>
        </a:solidFill>
      </p:bgPr>
    </p:bg>
    <p:spTree>
      <p:nvGrpSpPr>
        <p:cNvPr id="299" name="Shape 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300" name="Google Shape;300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301" name="Google Shape;301;p26"/>
          <p:cNvSpPr txBox="1"/>
          <p:nvPr/>
        </p:nvSpPr>
        <p:spPr>
          <a:xfrm>
            <a:off x="771525" y="581025"/>
            <a:ext cx="113814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F8FAFC"/>
                </a:solidFill>
                <a:latin typeface="Urbanist"/>
                <a:ea typeface="Urbanist"/>
                <a:cs typeface="Urbanist"/>
                <a:sym typeface="Urbanist"/>
              </a:rPr>
              <a:t>VALIUTŲ RIZIKOS VALDYMAS</a:t>
            </a:r>
            <a:endParaRPr/>
          </a:p>
        </p:txBody>
      </p:sp>
      <p:sp>
        <p:nvSpPr>
          <p:cNvPr id="302" name="Google Shape;302;p26"/>
          <p:cNvSpPr/>
          <p:nvPr/>
        </p:nvSpPr>
        <p:spPr>
          <a:xfrm>
            <a:off x="581025" y="581025"/>
            <a:ext cx="57300" cy="4572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3" name="Google Shape;303;p26"/>
          <p:cNvSpPr txBox="1"/>
          <p:nvPr/>
        </p:nvSpPr>
        <p:spPr>
          <a:xfrm>
            <a:off x="990600" y="4533137"/>
            <a:ext cx="4848300" cy="231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11430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500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Dolerio kurso įtaka mūsų įsigytoms paslaugoms</a:t>
            </a:r>
            <a:endParaRPr/>
          </a:p>
        </p:txBody>
      </p:sp>
      <p:pic>
        <p:nvPicPr>
          <p:cNvPr id="304" name="Google Shape;304;p26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990600" y="2414588"/>
            <a:ext cx="10210800" cy="20288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F172A"/>
        </a:solidFill>
      </p:bgPr>
    </p:bg>
    <p:spTree>
      <p:nvGrpSpPr>
        <p:cNvPr id="308" name="Shape 3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309" name="Google Shape;309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310" name="Google Shape;310;p2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81025" y="2132707"/>
            <a:ext cx="3479750" cy="343078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311" name="Google Shape;311;p27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4346525" y="2132707"/>
            <a:ext cx="3498800" cy="343078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312" name="Google Shape;312;p2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131075" y="2132707"/>
            <a:ext cx="3479750" cy="3430785"/>
          </a:xfrm>
          <a:prstGeom prst="rect">
            <a:avLst/>
          </a:prstGeom>
          <a:noFill/>
          <a:ln>
            <a:noFill/>
          </a:ln>
        </p:spPr>
      </p:pic>
      <p:sp>
        <p:nvSpPr>
          <p:cNvPr id="313" name="Google Shape;313;p27"/>
          <p:cNvSpPr txBox="1"/>
          <p:nvPr/>
        </p:nvSpPr>
        <p:spPr>
          <a:xfrm>
            <a:off x="904082" y="3304282"/>
            <a:ext cx="2833635" cy="3238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100" u="none" cap="none" strike="noStrike">
                <a:solidFill>
                  <a:srgbClr val="10B981"/>
                </a:solidFill>
                <a:latin typeface="Urbanist"/>
                <a:ea typeface="Urbanist"/>
                <a:cs typeface="Urbanist"/>
                <a:sym typeface="Urbanist"/>
              </a:rPr>
              <a:t>Standartinė</a:t>
            </a:r>
            <a:endParaRPr/>
          </a:p>
        </p:txBody>
      </p:sp>
      <p:sp>
        <p:nvSpPr>
          <p:cNvPr id="314" name="Google Shape;314;p27"/>
          <p:cNvSpPr txBox="1"/>
          <p:nvPr/>
        </p:nvSpPr>
        <p:spPr>
          <a:xfrm>
            <a:off x="971550" y="3771007"/>
            <a:ext cx="2698700" cy="4875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400" u="none" cap="none" strike="noStrike">
                <a:solidFill>
                  <a:srgbClr val="FFFFFF"/>
                </a:solidFill>
                <a:latin typeface="Lato"/>
                <a:ea typeface="Lato"/>
                <a:cs typeface="Lato"/>
                <a:sym typeface="Lato"/>
              </a:rPr>
              <a:t>450 €</a:t>
            </a:r>
            <a:endParaRPr/>
          </a:p>
        </p:txBody>
      </p:sp>
      <p:sp>
        <p:nvSpPr>
          <p:cNvPr id="315" name="Google Shape;315;p27"/>
          <p:cNvSpPr txBox="1"/>
          <p:nvPr/>
        </p:nvSpPr>
        <p:spPr>
          <a:xfrm>
            <a:off x="971550" y="4401442"/>
            <a:ext cx="2698700" cy="609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3333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Pristatymas: 2 dienos</a:t>
            </a:r>
            <a:br>
              <a:rPr b="0" i="0" lang="en-US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US" sz="1500" u="none" cap="none" strike="noStrike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 Greita rinkos apžvalga</a:t>
            </a:r>
            <a:endParaRPr/>
          </a:p>
        </p:txBody>
      </p:sp>
      <p:sp>
        <p:nvSpPr>
          <p:cNvPr id="316" name="Google Shape;316;p27"/>
          <p:cNvSpPr txBox="1"/>
          <p:nvPr/>
        </p:nvSpPr>
        <p:spPr>
          <a:xfrm>
            <a:off x="4679107" y="3313807"/>
            <a:ext cx="2833635" cy="3238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100" u="none" cap="none" strike="noStrike">
                <a:solidFill>
                  <a:srgbClr val="10B981"/>
                </a:solidFill>
                <a:latin typeface="Urbanist"/>
                <a:ea typeface="Urbanist"/>
                <a:cs typeface="Urbanist"/>
                <a:sym typeface="Urbanist"/>
              </a:rPr>
              <a:t>Premium</a:t>
            </a:r>
            <a:endParaRPr/>
          </a:p>
        </p:txBody>
      </p:sp>
      <p:sp>
        <p:nvSpPr>
          <p:cNvPr id="317" name="Google Shape;317;p27"/>
          <p:cNvSpPr txBox="1"/>
          <p:nvPr/>
        </p:nvSpPr>
        <p:spPr>
          <a:xfrm>
            <a:off x="4746575" y="3780532"/>
            <a:ext cx="2698700" cy="4875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400" u="none" cap="none" strike="noStrike">
                <a:solidFill>
                  <a:srgbClr val="FFFFFF"/>
                </a:solidFill>
                <a:latin typeface="Lato"/>
                <a:ea typeface="Lato"/>
                <a:cs typeface="Lato"/>
                <a:sym typeface="Lato"/>
              </a:rPr>
              <a:t>850 €</a:t>
            </a:r>
            <a:endParaRPr/>
          </a:p>
        </p:txBody>
      </p:sp>
      <p:sp>
        <p:nvSpPr>
          <p:cNvPr id="318" name="Google Shape;318;p27"/>
          <p:cNvSpPr txBox="1"/>
          <p:nvPr/>
        </p:nvSpPr>
        <p:spPr>
          <a:xfrm>
            <a:off x="4746575" y="4410967"/>
            <a:ext cx="2698700" cy="609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3333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Pristatymas: 1 diena</a:t>
            </a:r>
            <a:br>
              <a:rPr b="0" i="0" lang="en-US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US" sz="1500" u="none" cap="none" strike="noStrike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 Išsami konkurentų analizė</a:t>
            </a:r>
            <a:endParaRPr/>
          </a:p>
        </p:txBody>
      </p:sp>
      <p:sp>
        <p:nvSpPr>
          <p:cNvPr id="319" name="Google Shape;319;p27"/>
          <p:cNvSpPr txBox="1"/>
          <p:nvPr/>
        </p:nvSpPr>
        <p:spPr>
          <a:xfrm>
            <a:off x="8454133" y="3304282"/>
            <a:ext cx="2833635" cy="3238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100" u="none" cap="none" strike="noStrike">
                <a:solidFill>
                  <a:srgbClr val="10B981"/>
                </a:solidFill>
                <a:latin typeface="Urbanist"/>
                <a:ea typeface="Urbanist"/>
                <a:cs typeface="Urbanist"/>
                <a:sym typeface="Urbanist"/>
              </a:rPr>
              <a:t>Abonementas</a:t>
            </a:r>
            <a:endParaRPr/>
          </a:p>
        </p:txBody>
      </p:sp>
      <p:sp>
        <p:nvSpPr>
          <p:cNvPr id="320" name="Google Shape;320;p27"/>
          <p:cNvSpPr txBox="1"/>
          <p:nvPr/>
        </p:nvSpPr>
        <p:spPr>
          <a:xfrm>
            <a:off x="8521600" y="3771007"/>
            <a:ext cx="2698700" cy="4875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400" u="none" cap="none" strike="noStrike">
                <a:solidFill>
                  <a:srgbClr val="FFFFFF"/>
                </a:solidFill>
                <a:latin typeface="Lato"/>
                <a:ea typeface="Lato"/>
                <a:cs typeface="Lato"/>
                <a:sym typeface="Lato"/>
              </a:rPr>
              <a:t>1 200 €/mėn</a:t>
            </a:r>
            <a:endParaRPr/>
          </a:p>
        </p:txBody>
      </p:sp>
      <p:sp>
        <p:nvSpPr>
          <p:cNvPr id="321" name="Google Shape;321;p27"/>
          <p:cNvSpPr txBox="1"/>
          <p:nvPr/>
        </p:nvSpPr>
        <p:spPr>
          <a:xfrm>
            <a:off x="8521600" y="4401442"/>
            <a:ext cx="2698700" cy="609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3333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Nuolatinės įžvalgos</a:t>
            </a:r>
            <a:br>
              <a:rPr b="0" i="0" lang="en-US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US" sz="1500" u="none" cap="none" strike="noStrike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 Prognozuojamos išlaidos</a:t>
            </a:r>
            <a:endParaRPr/>
          </a:p>
        </p:txBody>
      </p:sp>
      <p:pic>
        <p:nvPicPr>
          <p:cNvPr descr="image.png" id="322" name="Google Shape;322;p27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2149375" y="2570857"/>
            <a:ext cx="342900" cy="4572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323" name="Google Shape;323;p27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5867251" y="2580382"/>
            <a:ext cx="457200" cy="4572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324" name="Google Shape;324;p27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9670851" y="2570857"/>
            <a:ext cx="400050" cy="457200"/>
          </a:xfrm>
          <a:prstGeom prst="rect">
            <a:avLst/>
          </a:prstGeom>
          <a:noFill/>
          <a:ln>
            <a:noFill/>
          </a:ln>
        </p:spPr>
      </p:pic>
      <p:sp>
        <p:nvSpPr>
          <p:cNvPr id="325" name="Google Shape;325;p27"/>
          <p:cNvSpPr txBox="1"/>
          <p:nvPr/>
        </p:nvSpPr>
        <p:spPr>
          <a:xfrm>
            <a:off x="771525" y="581025"/>
            <a:ext cx="1138142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F8FAFC"/>
                </a:solidFill>
                <a:latin typeface="Urbanist"/>
                <a:ea typeface="Urbanist"/>
                <a:cs typeface="Urbanist"/>
                <a:sym typeface="Urbanist"/>
              </a:rPr>
              <a:t>KAINODAROS MODELIS</a:t>
            </a:r>
            <a:endParaRPr/>
          </a:p>
        </p:txBody>
      </p:sp>
      <p:sp>
        <p:nvSpPr>
          <p:cNvPr id="326" name="Google Shape;326;p27"/>
          <p:cNvSpPr/>
          <p:nvPr/>
        </p:nvSpPr>
        <p:spPr>
          <a:xfrm>
            <a:off x="581025" y="581025"/>
            <a:ext cx="57150" cy="4572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F172A"/>
        </a:solidFill>
      </p:bgPr>
    </p:bg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331" name="Google Shape;331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332" name="Google Shape;332;p28"/>
          <p:cNvSpPr txBox="1"/>
          <p:nvPr/>
        </p:nvSpPr>
        <p:spPr>
          <a:xfrm>
            <a:off x="581025" y="5746402"/>
            <a:ext cx="11029950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10B981"/>
                </a:solidFill>
                <a:latin typeface="Lato"/>
                <a:ea typeface="Lato"/>
                <a:cs typeface="Lato"/>
                <a:sym typeface="Lato"/>
              </a:rPr>
              <a:t>Rodiklinis trendo modelis: R² = 0.8956</a:t>
            </a:r>
            <a:endParaRPr/>
          </a:p>
        </p:txBody>
      </p:sp>
      <p:sp>
        <p:nvSpPr>
          <p:cNvPr id="333" name="Google Shape;333;p28"/>
          <p:cNvSpPr txBox="1"/>
          <p:nvPr/>
        </p:nvSpPr>
        <p:spPr>
          <a:xfrm>
            <a:off x="581025" y="6194077"/>
            <a:ext cx="11029950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Numatomas vidutinis metinis pajamų augimas: 35%</a:t>
            </a:r>
            <a:endParaRPr/>
          </a:p>
        </p:txBody>
      </p:sp>
      <p:sp>
        <p:nvSpPr>
          <p:cNvPr id="334" name="Google Shape;334;p28"/>
          <p:cNvSpPr txBox="1"/>
          <p:nvPr/>
        </p:nvSpPr>
        <p:spPr>
          <a:xfrm>
            <a:off x="771525" y="581025"/>
            <a:ext cx="1138142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F8FAFC"/>
                </a:solidFill>
                <a:latin typeface="Urbanist"/>
                <a:ea typeface="Urbanist"/>
                <a:cs typeface="Urbanist"/>
                <a:sym typeface="Urbanist"/>
              </a:rPr>
              <a:t>PAJAMŲ PROGNOZĖ (2026-2029)</a:t>
            </a:r>
            <a:endParaRPr/>
          </a:p>
        </p:txBody>
      </p:sp>
      <p:sp>
        <p:nvSpPr>
          <p:cNvPr id="335" name="Google Shape;335;p28"/>
          <p:cNvSpPr/>
          <p:nvPr/>
        </p:nvSpPr>
        <p:spPr>
          <a:xfrm>
            <a:off x="581025" y="581025"/>
            <a:ext cx="57150" cy="4572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36" name="Google Shape;336;p28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459007" y="1276262"/>
            <a:ext cx="7273988" cy="43054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F172A"/>
        </a:solidFill>
      </p:bgPr>
    </p:bg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341" name="Google Shape;341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342" name="Google Shape;342;p29"/>
          <p:cNvSpPr txBox="1"/>
          <p:nvPr/>
        </p:nvSpPr>
        <p:spPr>
          <a:xfrm>
            <a:off x="581025" y="5746402"/>
            <a:ext cx="11030100" cy="231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10B981"/>
                </a:solidFill>
                <a:latin typeface="Lato"/>
                <a:ea typeface="Lato"/>
                <a:cs typeface="Lato"/>
                <a:sym typeface="Lato"/>
              </a:rPr>
              <a:t>Rodiklinis trendo modelis: R² = 0.8956</a:t>
            </a:r>
            <a:endParaRPr/>
          </a:p>
        </p:txBody>
      </p:sp>
      <p:sp>
        <p:nvSpPr>
          <p:cNvPr id="343" name="Google Shape;343;p29"/>
          <p:cNvSpPr txBox="1"/>
          <p:nvPr/>
        </p:nvSpPr>
        <p:spPr>
          <a:xfrm>
            <a:off x="581025" y="6194077"/>
            <a:ext cx="11030100" cy="231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Numatomas vidutinis metinis pajamų augimas: 35%</a:t>
            </a:r>
            <a:endParaRPr/>
          </a:p>
        </p:txBody>
      </p:sp>
      <p:sp>
        <p:nvSpPr>
          <p:cNvPr id="344" name="Google Shape;344;p29"/>
          <p:cNvSpPr txBox="1"/>
          <p:nvPr/>
        </p:nvSpPr>
        <p:spPr>
          <a:xfrm>
            <a:off x="771525" y="581025"/>
            <a:ext cx="113814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F8FAFC"/>
                </a:solidFill>
                <a:latin typeface="Urbanist"/>
                <a:ea typeface="Urbanist"/>
                <a:cs typeface="Urbanist"/>
                <a:sym typeface="Urbanist"/>
              </a:rPr>
              <a:t>PAJAMŲ PROGNOZĖ (2026-2029)</a:t>
            </a:r>
            <a:endParaRPr/>
          </a:p>
        </p:txBody>
      </p:sp>
      <p:sp>
        <p:nvSpPr>
          <p:cNvPr id="345" name="Google Shape;345;p29"/>
          <p:cNvSpPr/>
          <p:nvPr/>
        </p:nvSpPr>
        <p:spPr>
          <a:xfrm>
            <a:off x="581025" y="581025"/>
            <a:ext cx="57300" cy="4572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46" name="Google Shape;346;p29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733675" y="1914525"/>
            <a:ext cx="6724650" cy="3028950"/>
          </a:xfrm>
          <a:prstGeom prst="rect">
            <a:avLst/>
          </a:prstGeom>
          <a:noFill/>
          <a:ln>
            <a:noFill/>
          </a:ln>
        </p:spPr>
      </p:pic>
      <p:sp>
        <p:nvSpPr>
          <p:cNvPr id="347" name="Google Shape;347;p29"/>
          <p:cNvSpPr txBox="1"/>
          <p:nvPr/>
        </p:nvSpPr>
        <p:spPr>
          <a:xfrm>
            <a:off x="3270275" y="4943475"/>
            <a:ext cx="4848300" cy="231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114300" spcFirstLastPara="1" rIns="0" wrap="square" tIns="0">
            <a:spAutoFit/>
          </a:bodyPr>
          <a:lstStyle/>
          <a:p>
            <a:pPr indent="0" lvl="0" marL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b="1" lang="en-US" sz="1500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Prognozavimo analize</a:t>
            </a:r>
            <a:endParaRPr b="1" sz="1500">
              <a:solidFill>
                <a:srgbClr val="CBD5E1"/>
              </a:solidFill>
              <a:latin typeface="Lato"/>
              <a:ea typeface="Lato"/>
              <a:cs typeface="Lato"/>
              <a:sym typeface="Lato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F172A"/>
        </a:solidFill>
      </p:bgPr>
    </p:bg>
    <p:spTree>
      <p:nvGrpSpPr>
        <p:cNvPr id="351" name="Shape 3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352" name="Google Shape;352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353" name="Google Shape;353;p30"/>
          <p:cNvSpPr txBox="1"/>
          <p:nvPr/>
        </p:nvSpPr>
        <p:spPr>
          <a:xfrm>
            <a:off x="771525" y="581025"/>
            <a:ext cx="113814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000">
                <a:solidFill>
                  <a:srgbClr val="F8FAFC"/>
                </a:solidFill>
                <a:latin typeface="Urbanist"/>
                <a:ea typeface="Urbanist"/>
                <a:cs typeface="Urbanist"/>
                <a:sym typeface="Urbanist"/>
              </a:rPr>
              <a:t>Investicinių rodiklių skaičiavimas</a:t>
            </a:r>
            <a:endParaRPr/>
          </a:p>
        </p:txBody>
      </p:sp>
      <p:sp>
        <p:nvSpPr>
          <p:cNvPr id="354" name="Google Shape;354;p30"/>
          <p:cNvSpPr/>
          <p:nvPr/>
        </p:nvSpPr>
        <p:spPr>
          <a:xfrm>
            <a:off x="581025" y="581025"/>
            <a:ext cx="57300" cy="4572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55" name="Google Shape;355;p30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38325" y="1523300"/>
            <a:ext cx="6819900" cy="2686050"/>
          </a:xfrm>
          <a:prstGeom prst="rect">
            <a:avLst/>
          </a:prstGeom>
          <a:noFill/>
          <a:ln>
            <a:noFill/>
          </a:ln>
        </p:spPr>
      </p:pic>
      <p:pic>
        <p:nvPicPr>
          <p:cNvPr id="356" name="Google Shape;356;p30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7390025" y="4569713"/>
            <a:ext cx="3962400" cy="1152525"/>
          </a:xfrm>
          <a:prstGeom prst="rect">
            <a:avLst/>
          </a:prstGeom>
          <a:noFill/>
          <a:ln>
            <a:noFill/>
          </a:ln>
        </p:spPr>
      </p:pic>
      <p:sp>
        <p:nvSpPr>
          <p:cNvPr id="357" name="Google Shape;357;p30"/>
          <p:cNvSpPr txBox="1"/>
          <p:nvPr/>
        </p:nvSpPr>
        <p:spPr>
          <a:xfrm>
            <a:off x="638325" y="4338725"/>
            <a:ext cx="4848300" cy="231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114300" spcFirstLastPara="1" rIns="0" wrap="square" tIns="0">
            <a:spAutoFit/>
          </a:bodyPr>
          <a:lstStyle/>
          <a:p>
            <a:pPr indent="0" lvl="0" marL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b="1" lang="en-US" sz="1500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Rodiklių skaičiavimai</a:t>
            </a:r>
            <a:endParaRPr b="1" sz="1500">
              <a:solidFill>
                <a:srgbClr val="CBD5E1"/>
              </a:solidFill>
              <a:latin typeface="Lato"/>
              <a:ea typeface="Lato"/>
              <a:cs typeface="Lato"/>
              <a:sym typeface="Lato"/>
            </a:endParaRPr>
          </a:p>
        </p:txBody>
      </p:sp>
      <p:sp>
        <p:nvSpPr>
          <p:cNvPr id="358" name="Google Shape;358;p30"/>
          <p:cNvSpPr txBox="1"/>
          <p:nvPr/>
        </p:nvSpPr>
        <p:spPr>
          <a:xfrm>
            <a:off x="6784500" y="5831725"/>
            <a:ext cx="4848300" cy="600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114300" spcFirstLastPara="1" rIns="0" wrap="square" tIns="0">
            <a:spAutoFit/>
          </a:bodyPr>
          <a:lstStyle/>
          <a:p>
            <a:pPr indent="0" lvl="0" marL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b="1" lang="en-US" sz="1500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Investicinio projekto vertinimo suvestinė ir rekomendacijos</a:t>
            </a:r>
            <a:endParaRPr b="1" sz="1500">
              <a:solidFill>
                <a:srgbClr val="CBD5E1"/>
              </a:solidFill>
              <a:latin typeface="Lato"/>
              <a:ea typeface="Lato"/>
              <a:cs typeface="Lato"/>
              <a:sym typeface="Lato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F172A"/>
        </a:solidFill>
      </p:bgPr>
    </p:bg>
    <p:spTree>
      <p:nvGrpSpPr>
        <p:cNvPr id="362" name="Shape 3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363" name="Google Shape;363;p3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364" name="Google Shape;364;p31"/>
          <p:cNvSpPr txBox="1"/>
          <p:nvPr/>
        </p:nvSpPr>
        <p:spPr>
          <a:xfrm>
            <a:off x="305276" y="581025"/>
            <a:ext cx="11581447" cy="114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500" u="none" cap="none" strike="noStrike">
                <a:solidFill>
                  <a:srgbClr val="10B981"/>
                </a:solidFill>
                <a:latin typeface="Urbanist"/>
                <a:ea typeface="Urbanist"/>
                <a:cs typeface="Urbanist"/>
                <a:sym typeface="Urbanist"/>
              </a:rPr>
              <a:t>Klausimai?</a:t>
            </a:r>
            <a:endParaRPr/>
          </a:p>
        </p:txBody>
      </p:sp>
      <p:sp>
        <p:nvSpPr>
          <p:cNvPr id="365" name="Google Shape;365;p31"/>
          <p:cNvSpPr txBox="1"/>
          <p:nvPr/>
        </p:nvSpPr>
        <p:spPr>
          <a:xfrm>
            <a:off x="581025" y="1914525"/>
            <a:ext cx="11029950" cy="8533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5995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100" u="none" cap="none" strike="noStrike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Išvada: Inžinerinis sprendimas yra ekonomiškai pagrįstas,</a:t>
            </a:r>
            <a:br>
              <a:rPr b="0" i="0" lang="en-US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US" sz="2100" u="none" cap="none" strike="noStrike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 turi aiškią rinkos nišą ir tvarias augimo prognozes.</a:t>
            </a:r>
            <a:endParaRPr/>
          </a:p>
        </p:txBody>
      </p:sp>
      <p:sp>
        <p:nvSpPr>
          <p:cNvPr id="366" name="Google Shape;366;p31"/>
          <p:cNvSpPr txBox="1"/>
          <p:nvPr/>
        </p:nvSpPr>
        <p:spPr>
          <a:xfrm>
            <a:off x="581025" y="3339405"/>
            <a:ext cx="11029950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Kristupas Velžys | Jovita Valukonytė | Nojus</a:t>
            </a:r>
            <a:endParaRPr/>
          </a:p>
        </p:txBody>
      </p:sp>
      <p:sp>
        <p:nvSpPr>
          <p:cNvPr id="367" name="Google Shape;367;p31"/>
          <p:cNvSpPr txBox="1"/>
          <p:nvPr/>
        </p:nvSpPr>
        <p:spPr>
          <a:xfrm>
            <a:off x="581025" y="3787080"/>
            <a:ext cx="11029950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Kauno technologijos universitetas, 2025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